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9" r:id="rId2"/>
    <p:sldId id="278" r:id="rId3"/>
    <p:sldId id="264" r:id="rId4"/>
    <p:sldId id="273" r:id="rId5"/>
    <p:sldId id="274" r:id="rId6"/>
    <p:sldId id="256" r:id="rId7"/>
    <p:sldId id="261" r:id="rId8"/>
    <p:sldId id="259" r:id="rId9"/>
    <p:sldId id="260" r:id="rId10"/>
    <p:sldId id="276" r:id="rId11"/>
    <p:sldId id="272" r:id="rId12"/>
    <p:sldId id="275" r:id="rId13"/>
    <p:sldId id="277" r:id="rId14"/>
    <p:sldId id="265" r:id="rId15"/>
    <p:sldId id="262"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8" autoAdjust="0"/>
    <p:restoredTop sz="91290" autoAdjust="0"/>
  </p:normalViewPr>
  <p:slideViewPr>
    <p:cSldViewPr snapToGrid="0">
      <p:cViewPr>
        <p:scale>
          <a:sx n="110" d="100"/>
          <a:sy n="110" d="100"/>
        </p:scale>
        <p:origin x="-280" y="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24D094-7C33-4A2D-98F4-9BE6182CF28B}"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F4396F54-C138-43C4-BE6C-4EC0E3F6C946}">
      <dgm:prSet/>
      <dgm:spPr/>
      <dgm:t>
        <a:bodyPr/>
        <a:lstStyle/>
        <a:p>
          <a:r>
            <a:rPr lang="en-US" b="1"/>
            <a:t>Problem Statement</a:t>
          </a:r>
          <a:endParaRPr lang="en-US"/>
        </a:p>
      </dgm:t>
    </dgm:pt>
    <dgm:pt modelId="{B745CF5A-AE4C-445D-AFCB-DEFCAFC04D79}" type="parTrans" cxnId="{C6F1021B-5413-45E6-997E-332DCAAE826E}">
      <dgm:prSet/>
      <dgm:spPr/>
      <dgm:t>
        <a:bodyPr/>
        <a:lstStyle/>
        <a:p>
          <a:endParaRPr lang="en-US"/>
        </a:p>
      </dgm:t>
    </dgm:pt>
    <dgm:pt modelId="{D6C6FDB0-4EF0-4031-9246-6B0344D1AF53}" type="sibTrans" cxnId="{C6F1021B-5413-45E6-997E-332DCAAE826E}">
      <dgm:prSet/>
      <dgm:spPr/>
      <dgm:t>
        <a:bodyPr/>
        <a:lstStyle/>
        <a:p>
          <a:endParaRPr lang="en-US"/>
        </a:p>
      </dgm:t>
    </dgm:pt>
    <dgm:pt modelId="{6CEAA442-21FE-4818-84D8-517CC913E2E6}">
      <dgm:prSet/>
      <dgm:spPr/>
      <dgm:t>
        <a:bodyPr/>
        <a:lstStyle/>
        <a:p>
          <a:r>
            <a:rPr lang="en-US"/>
            <a:t>Computer Science students are highly concerned about their employment prospects after graduation. While still in school, they want to understand the types of technical jobs that will be available to them so they can better plan their coursework and skill development in preparation for the job market.</a:t>
          </a:r>
        </a:p>
      </dgm:t>
    </dgm:pt>
    <dgm:pt modelId="{38FED15B-BDC5-4B96-9877-4C0DC93004BC}" type="parTrans" cxnId="{3821985E-2373-4223-A8FC-4E426FCBA0CD}">
      <dgm:prSet/>
      <dgm:spPr/>
      <dgm:t>
        <a:bodyPr/>
        <a:lstStyle/>
        <a:p>
          <a:endParaRPr lang="en-US"/>
        </a:p>
      </dgm:t>
    </dgm:pt>
    <dgm:pt modelId="{E574594D-1C30-48F8-B4AF-5F74436DD904}" type="sibTrans" cxnId="{3821985E-2373-4223-A8FC-4E426FCBA0CD}">
      <dgm:prSet/>
      <dgm:spPr/>
      <dgm:t>
        <a:bodyPr/>
        <a:lstStyle/>
        <a:p>
          <a:endParaRPr lang="en-US"/>
        </a:p>
      </dgm:t>
    </dgm:pt>
    <dgm:pt modelId="{9E619C06-0E4C-45E2-A35E-37056FBE22C2}">
      <dgm:prSet/>
      <dgm:spPr/>
      <dgm:t>
        <a:bodyPr/>
        <a:lstStyle/>
        <a:p>
          <a:r>
            <a:rPr lang="en-US" b="1"/>
            <a:t>Solution</a:t>
          </a:r>
          <a:endParaRPr lang="en-US"/>
        </a:p>
      </dgm:t>
    </dgm:pt>
    <dgm:pt modelId="{52024257-2228-4E9F-989E-DD9F8896E401}" type="parTrans" cxnId="{DC9058AA-1D90-4A73-8C05-9E48423F90E5}">
      <dgm:prSet/>
      <dgm:spPr/>
      <dgm:t>
        <a:bodyPr/>
        <a:lstStyle/>
        <a:p>
          <a:endParaRPr lang="en-US"/>
        </a:p>
      </dgm:t>
    </dgm:pt>
    <dgm:pt modelId="{363D4456-2B60-4892-B6DF-E66E7291403B}" type="sibTrans" cxnId="{DC9058AA-1D90-4A73-8C05-9E48423F90E5}">
      <dgm:prSet/>
      <dgm:spPr/>
      <dgm:t>
        <a:bodyPr/>
        <a:lstStyle/>
        <a:p>
          <a:endParaRPr lang="en-US"/>
        </a:p>
      </dgm:t>
    </dgm:pt>
    <dgm:pt modelId="{C96D94BC-3698-4E53-9AC7-330998FD0D6F}">
      <dgm:prSet/>
      <dgm:spPr/>
      <dgm:t>
        <a:bodyPr/>
        <a:lstStyle/>
        <a:p>
          <a:r>
            <a:rPr lang="en-US"/>
            <a:t>This project supports Computer Science career planning through a chatbot designed specifically to provide career-related guidance. The chatbot focuses on technical career paths to help students explore job categories, required skills, and preparation strategies while avoiding unrelated or non-technical inquiries.</a:t>
          </a:r>
        </a:p>
      </dgm:t>
    </dgm:pt>
    <dgm:pt modelId="{9F92AEC2-1D4E-4F2E-AA13-CC4D828FD6CD}" type="parTrans" cxnId="{B3FE3BDE-F8C4-4912-9425-8416BE720A23}">
      <dgm:prSet/>
      <dgm:spPr/>
      <dgm:t>
        <a:bodyPr/>
        <a:lstStyle/>
        <a:p>
          <a:endParaRPr lang="en-US"/>
        </a:p>
      </dgm:t>
    </dgm:pt>
    <dgm:pt modelId="{1C8691F4-7705-4643-935D-7F71B3ED74EF}" type="sibTrans" cxnId="{B3FE3BDE-F8C4-4912-9425-8416BE720A23}">
      <dgm:prSet/>
      <dgm:spPr/>
      <dgm:t>
        <a:bodyPr/>
        <a:lstStyle/>
        <a:p>
          <a:endParaRPr lang="en-US"/>
        </a:p>
      </dgm:t>
    </dgm:pt>
    <dgm:pt modelId="{2D5D266B-824F-4245-9ED8-EE8AA8DBB3B5}" type="pres">
      <dgm:prSet presAssocID="{3D24D094-7C33-4A2D-98F4-9BE6182CF28B}" presName="outerComposite" presStyleCnt="0">
        <dgm:presLayoutVars>
          <dgm:chMax val="5"/>
          <dgm:dir/>
          <dgm:resizeHandles val="exact"/>
        </dgm:presLayoutVars>
      </dgm:prSet>
      <dgm:spPr/>
    </dgm:pt>
    <dgm:pt modelId="{CF578853-0552-466E-B6D1-E1FF3811B080}" type="pres">
      <dgm:prSet presAssocID="{3D24D094-7C33-4A2D-98F4-9BE6182CF28B}" presName="dummyMaxCanvas" presStyleCnt="0">
        <dgm:presLayoutVars/>
      </dgm:prSet>
      <dgm:spPr/>
    </dgm:pt>
    <dgm:pt modelId="{60AEBE9E-3FF4-4379-8965-7A5DDEB00CD5}" type="pres">
      <dgm:prSet presAssocID="{3D24D094-7C33-4A2D-98F4-9BE6182CF28B}" presName="FourNodes_1" presStyleLbl="node1" presStyleIdx="0" presStyleCnt="4">
        <dgm:presLayoutVars>
          <dgm:bulletEnabled val="1"/>
        </dgm:presLayoutVars>
      </dgm:prSet>
      <dgm:spPr/>
    </dgm:pt>
    <dgm:pt modelId="{C009AC0A-AA20-4B19-A9A8-6AC35EB8A988}" type="pres">
      <dgm:prSet presAssocID="{3D24D094-7C33-4A2D-98F4-9BE6182CF28B}" presName="FourNodes_2" presStyleLbl="node1" presStyleIdx="1" presStyleCnt="4">
        <dgm:presLayoutVars>
          <dgm:bulletEnabled val="1"/>
        </dgm:presLayoutVars>
      </dgm:prSet>
      <dgm:spPr/>
    </dgm:pt>
    <dgm:pt modelId="{C27031EB-0E4B-4D26-920E-971DB80E064F}" type="pres">
      <dgm:prSet presAssocID="{3D24D094-7C33-4A2D-98F4-9BE6182CF28B}" presName="FourNodes_3" presStyleLbl="node1" presStyleIdx="2" presStyleCnt="4">
        <dgm:presLayoutVars>
          <dgm:bulletEnabled val="1"/>
        </dgm:presLayoutVars>
      </dgm:prSet>
      <dgm:spPr/>
    </dgm:pt>
    <dgm:pt modelId="{ED1CFF12-9D71-455B-A3A6-49E1CDA8E177}" type="pres">
      <dgm:prSet presAssocID="{3D24D094-7C33-4A2D-98F4-9BE6182CF28B}" presName="FourNodes_4" presStyleLbl="node1" presStyleIdx="3" presStyleCnt="4">
        <dgm:presLayoutVars>
          <dgm:bulletEnabled val="1"/>
        </dgm:presLayoutVars>
      </dgm:prSet>
      <dgm:spPr/>
    </dgm:pt>
    <dgm:pt modelId="{951B31C4-6EFD-4401-B7A2-220D8B03927B}" type="pres">
      <dgm:prSet presAssocID="{3D24D094-7C33-4A2D-98F4-9BE6182CF28B}" presName="FourConn_1-2" presStyleLbl="fgAccFollowNode1" presStyleIdx="0" presStyleCnt="3">
        <dgm:presLayoutVars>
          <dgm:bulletEnabled val="1"/>
        </dgm:presLayoutVars>
      </dgm:prSet>
      <dgm:spPr/>
    </dgm:pt>
    <dgm:pt modelId="{24BEF109-3476-47D4-B3D1-CD554F7F5C74}" type="pres">
      <dgm:prSet presAssocID="{3D24D094-7C33-4A2D-98F4-9BE6182CF28B}" presName="FourConn_2-3" presStyleLbl="fgAccFollowNode1" presStyleIdx="1" presStyleCnt="3">
        <dgm:presLayoutVars>
          <dgm:bulletEnabled val="1"/>
        </dgm:presLayoutVars>
      </dgm:prSet>
      <dgm:spPr/>
    </dgm:pt>
    <dgm:pt modelId="{D81788C5-5432-4A3A-A550-AF0ABD7657BD}" type="pres">
      <dgm:prSet presAssocID="{3D24D094-7C33-4A2D-98F4-9BE6182CF28B}" presName="FourConn_3-4" presStyleLbl="fgAccFollowNode1" presStyleIdx="2" presStyleCnt="3">
        <dgm:presLayoutVars>
          <dgm:bulletEnabled val="1"/>
        </dgm:presLayoutVars>
      </dgm:prSet>
      <dgm:spPr/>
    </dgm:pt>
    <dgm:pt modelId="{359F6550-62E2-44EC-A7E8-BD67CAC3857F}" type="pres">
      <dgm:prSet presAssocID="{3D24D094-7C33-4A2D-98F4-9BE6182CF28B}" presName="FourNodes_1_text" presStyleLbl="node1" presStyleIdx="3" presStyleCnt="4">
        <dgm:presLayoutVars>
          <dgm:bulletEnabled val="1"/>
        </dgm:presLayoutVars>
      </dgm:prSet>
      <dgm:spPr/>
    </dgm:pt>
    <dgm:pt modelId="{8C40BDE9-5AC7-4DA6-A8B4-2B1318CB9534}" type="pres">
      <dgm:prSet presAssocID="{3D24D094-7C33-4A2D-98F4-9BE6182CF28B}" presName="FourNodes_2_text" presStyleLbl="node1" presStyleIdx="3" presStyleCnt="4">
        <dgm:presLayoutVars>
          <dgm:bulletEnabled val="1"/>
        </dgm:presLayoutVars>
      </dgm:prSet>
      <dgm:spPr/>
    </dgm:pt>
    <dgm:pt modelId="{291055B7-DCD8-42D8-BC04-37B72793ACEE}" type="pres">
      <dgm:prSet presAssocID="{3D24D094-7C33-4A2D-98F4-9BE6182CF28B}" presName="FourNodes_3_text" presStyleLbl="node1" presStyleIdx="3" presStyleCnt="4">
        <dgm:presLayoutVars>
          <dgm:bulletEnabled val="1"/>
        </dgm:presLayoutVars>
      </dgm:prSet>
      <dgm:spPr/>
    </dgm:pt>
    <dgm:pt modelId="{BC67CD30-557C-476B-A7FB-1CE8AA948B0A}" type="pres">
      <dgm:prSet presAssocID="{3D24D094-7C33-4A2D-98F4-9BE6182CF28B}" presName="FourNodes_4_text" presStyleLbl="node1" presStyleIdx="3" presStyleCnt="4">
        <dgm:presLayoutVars>
          <dgm:bulletEnabled val="1"/>
        </dgm:presLayoutVars>
      </dgm:prSet>
      <dgm:spPr/>
    </dgm:pt>
  </dgm:ptLst>
  <dgm:cxnLst>
    <dgm:cxn modelId="{B2A8F300-A443-4E20-A434-6FA1AA2E7736}" type="presOf" srcId="{3D24D094-7C33-4A2D-98F4-9BE6182CF28B}" destId="{2D5D266B-824F-4245-9ED8-EE8AA8DBB3B5}" srcOrd="0" destOrd="0" presId="urn:microsoft.com/office/officeart/2005/8/layout/vProcess5"/>
    <dgm:cxn modelId="{BD5E3B04-C13E-48F2-8809-DF5FC5B18039}" type="presOf" srcId="{C96D94BC-3698-4E53-9AC7-330998FD0D6F}" destId="{ED1CFF12-9D71-455B-A3A6-49E1CDA8E177}" srcOrd="0" destOrd="0" presId="urn:microsoft.com/office/officeart/2005/8/layout/vProcess5"/>
    <dgm:cxn modelId="{C6F1021B-5413-45E6-997E-332DCAAE826E}" srcId="{3D24D094-7C33-4A2D-98F4-9BE6182CF28B}" destId="{F4396F54-C138-43C4-BE6C-4EC0E3F6C946}" srcOrd="0" destOrd="0" parTransId="{B745CF5A-AE4C-445D-AFCB-DEFCAFC04D79}" sibTransId="{D6C6FDB0-4EF0-4031-9246-6B0344D1AF53}"/>
    <dgm:cxn modelId="{AA33071F-995C-4285-98AE-4F940B2593B4}" type="presOf" srcId="{9E619C06-0E4C-45E2-A35E-37056FBE22C2}" destId="{291055B7-DCD8-42D8-BC04-37B72793ACEE}" srcOrd="1" destOrd="0" presId="urn:microsoft.com/office/officeart/2005/8/layout/vProcess5"/>
    <dgm:cxn modelId="{869AD72B-A9C8-4C5D-BF88-93A8B107EF1A}" type="presOf" srcId="{6CEAA442-21FE-4818-84D8-517CC913E2E6}" destId="{C009AC0A-AA20-4B19-A9A8-6AC35EB8A988}" srcOrd="0" destOrd="0" presId="urn:microsoft.com/office/officeart/2005/8/layout/vProcess5"/>
    <dgm:cxn modelId="{7B5F3534-21DB-4C70-AC01-9A8736E9F60E}" type="presOf" srcId="{D6C6FDB0-4EF0-4031-9246-6B0344D1AF53}" destId="{951B31C4-6EFD-4401-B7A2-220D8B03927B}" srcOrd="0" destOrd="0" presId="urn:microsoft.com/office/officeart/2005/8/layout/vProcess5"/>
    <dgm:cxn modelId="{1459033D-1727-4877-8E96-7AFD684FAA7D}" type="presOf" srcId="{6CEAA442-21FE-4818-84D8-517CC913E2E6}" destId="{8C40BDE9-5AC7-4DA6-A8B4-2B1318CB9534}" srcOrd="1" destOrd="0" presId="urn:microsoft.com/office/officeart/2005/8/layout/vProcess5"/>
    <dgm:cxn modelId="{3821985E-2373-4223-A8FC-4E426FCBA0CD}" srcId="{3D24D094-7C33-4A2D-98F4-9BE6182CF28B}" destId="{6CEAA442-21FE-4818-84D8-517CC913E2E6}" srcOrd="1" destOrd="0" parTransId="{38FED15B-BDC5-4B96-9877-4C0DC93004BC}" sibTransId="{E574594D-1C30-48F8-B4AF-5F74436DD904}"/>
    <dgm:cxn modelId="{645D2C72-C897-4A14-989C-68331FD82648}" type="presOf" srcId="{C96D94BC-3698-4E53-9AC7-330998FD0D6F}" destId="{BC67CD30-557C-476B-A7FB-1CE8AA948B0A}" srcOrd="1" destOrd="0" presId="urn:microsoft.com/office/officeart/2005/8/layout/vProcess5"/>
    <dgm:cxn modelId="{8DA3B177-F796-456C-8610-F32DDD396273}" type="presOf" srcId="{9E619C06-0E4C-45E2-A35E-37056FBE22C2}" destId="{C27031EB-0E4B-4D26-920E-971DB80E064F}" srcOrd="0" destOrd="0" presId="urn:microsoft.com/office/officeart/2005/8/layout/vProcess5"/>
    <dgm:cxn modelId="{92B8A283-BBB7-427A-8E0C-2F98F93506AF}" type="presOf" srcId="{F4396F54-C138-43C4-BE6C-4EC0E3F6C946}" destId="{359F6550-62E2-44EC-A7E8-BD67CAC3857F}" srcOrd="1" destOrd="0" presId="urn:microsoft.com/office/officeart/2005/8/layout/vProcess5"/>
    <dgm:cxn modelId="{5B5AF699-730D-4C3C-88E6-C4CE9DEEB58E}" type="presOf" srcId="{F4396F54-C138-43C4-BE6C-4EC0E3F6C946}" destId="{60AEBE9E-3FF4-4379-8965-7A5DDEB00CD5}" srcOrd="0" destOrd="0" presId="urn:microsoft.com/office/officeart/2005/8/layout/vProcess5"/>
    <dgm:cxn modelId="{DC9058AA-1D90-4A73-8C05-9E48423F90E5}" srcId="{3D24D094-7C33-4A2D-98F4-9BE6182CF28B}" destId="{9E619C06-0E4C-45E2-A35E-37056FBE22C2}" srcOrd="2" destOrd="0" parTransId="{52024257-2228-4E9F-989E-DD9F8896E401}" sibTransId="{363D4456-2B60-4892-B6DF-E66E7291403B}"/>
    <dgm:cxn modelId="{33C0F7B2-0406-470C-B49B-D8FB06D9B90C}" type="presOf" srcId="{363D4456-2B60-4892-B6DF-E66E7291403B}" destId="{D81788C5-5432-4A3A-A550-AF0ABD7657BD}" srcOrd="0" destOrd="0" presId="urn:microsoft.com/office/officeart/2005/8/layout/vProcess5"/>
    <dgm:cxn modelId="{F50360C2-A44C-4615-8736-49CBBDEF8882}" type="presOf" srcId="{E574594D-1C30-48F8-B4AF-5F74436DD904}" destId="{24BEF109-3476-47D4-B3D1-CD554F7F5C74}" srcOrd="0" destOrd="0" presId="urn:microsoft.com/office/officeart/2005/8/layout/vProcess5"/>
    <dgm:cxn modelId="{B3FE3BDE-F8C4-4912-9425-8416BE720A23}" srcId="{3D24D094-7C33-4A2D-98F4-9BE6182CF28B}" destId="{C96D94BC-3698-4E53-9AC7-330998FD0D6F}" srcOrd="3" destOrd="0" parTransId="{9F92AEC2-1D4E-4F2E-AA13-CC4D828FD6CD}" sibTransId="{1C8691F4-7705-4643-935D-7F71B3ED74EF}"/>
    <dgm:cxn modelId="{A394FC4F-E20E-45C2-A79F-27C036537BB4}" type="presParOf" srcId="{2D5D266B-824F-4245-9ED8-EE8AA8DBB3B5}" destId="{CF578853-0552-466E-B6D1-E1FF3811B080}" srcOrd="0" destOrd="0" presId="urn:microsoft.com/office/officeart/2005/8/layout/vProcess5"/>
    <dgm:cxn modelId="{FF5D8447-036D-421C-8320-394F7DBC476F}" type="presParOf" srcId="{2D5D266B-824F-4245-9ED8-EE8AA8DBB3B5}" destId="{60AEBE9E-3FF4-4379-8965-7A5DDEB00CD5}" srcOrd="1" destOrd="0" presId="urn:microsoft.com/office/officeart/2005/8/layout/vProcess5"/>
    <dgm:cxn modelId="{B2597C32-F06E-4BE0-A3F4-5BDBC3B19950}" type="presParOf" srcId="{2D5D266B-824F-4245-9ED8-EE8AA8DBB3B5}" destId="{C009AC0A-AA20-4B19-A9A8-6AC35EB8A988}" srcOrd="2" destOrd="0" presId="urn:microsoft.com/office/officeart/2005/8/layout/vProcess5"/>
    <dgm:cxn modelId="{FAEEA21C-64DA-47B9-A75C-986D554827CC}" type="presParOf" srcId="{2D5D266B-824F-4245-9ED8-EE8AA8DBB3B5}" destId="{C27031EB-0E4B-4D26-920E-971DB80E064F}" srcOrd="3" destOrd="0" presId="urn:microsoft.com/office/officeart/2005/8/layout/vProcess5"/>
    <dgm:cxn modelId="{8B014646-E7E9-4D16-8AA6-66BACE027A37}" type="presParOf" srcId="{2D5D266B-824F-4245-9ED8-EE8AA8DBB3B5}" destId="{ED1CFF12-9D71-455B-A3A6-49E1CDA8E177}" srcOrd="4" destOrd="0" presId="urn:microsoft.com/office/officeart/2005/8/layout/vProcess5"/>
    <dgm:cxn modelId="{B3347569-D169-4826-AFCE-3C9BE7230FF8}" type="presParOf" srcId="{2D5D266B-824F-4245-9ED8-EE8AA8DBB3B5}" destId="{951B31C4-6EFD-4401-B7A2-220D8B03927B}" srcOrd="5" destOrd="0" presId="urn:microsoft.com/office/officeart/2005/8/layout/vProcess5"/>
    <dgm:cxn modelId="{26E96333-550D-443D-BA80-C6D9F03D9062}" type="presParOf" srcId="{2D5D266B-824F-4245-9ED8-EE8AA8DBB3B5}" destId="{24BEF109-3476-47D4-B3D1-CD554F7F5C74}" srcOrd="6" destOrd="0" presId="urn:microsoft.com/office/officeart/2005/8/layout/vProcess5"/>
    <dgm:cxn modelId="{13FC8E07-2A75-4084-AAC4-E561B547272C}" type="presParOf" srcId="{2D5D266B-824F-4245-9ED8-EE8AA8DBB3B5}" destId="{D81788C5-5432-4A3A-A550-AF0ABD7657BD}" srcOrd="7" destOrd="0" presId="urn:microsoft.com/office/officeart/2005/8/layout/vProcess5"/>
    <dgm:cxn modelId="{43B61C0E-88C9-4602-A2A7-1065820494A4}" type="presParOf" srcId="{2D5D266B-824F-4245-9ED8-EE8AA8DBB3B5}" destId="{359F6550-62E2-44EC-A7E8-BD67CAC3857F}" srcOrd="8" destOrd="0" presId="urn:microsoft.com/office/officeart/2005/8/layout/vProcess5"/>
    <dgm:cxn modelId="{77FDDB10-6E65-4550-BBE4-B6DA8ADCF2E9}" type="presParOf" srcId="{2D5D266B-824F-4245-9ED8-EE8AA8DBB3B5}" destId="{8C40BDE9-5AC7-4DA6-A8B4-2B1318CB9534}" srcOrd="9" destOrd="0" presId="urn:microsoft.com/office/officeart/2005/8/layout/vProcess5"/>
    <dgm:cxn modelId="{CF40687C-EDD3-4DB3-A6E6-347E33FF6731}" type="presParOf" srcId="{2D5D266B-824F-4245-9ED8-EE8AA8DBB3B5}" destId="{291055B7-DCD8-42D8-BC04-37B72793ACEE}" srcOrd="10" destOrd="0" presId="urn:microsoft.com/office/officeart/2005/8/layout/vProcess5"/>
    <dgm:cxn modelId="{DE55FDB4-2FB3-4661-9A64-A0F10D58C9B1}" type="presParOf" srcId="{2D5D266B-824F-4245-9ED8-EE8AA8DBB3B5}" destId="{BC67CD30-557C-476B-A7FB-1CE8AA948B0A}"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AEBE9E-3FF4-4379-8965-7A5DDEB00CD5}">
      <dsp:nvSpPr>
        <dsp:cNvPr id="0" name=""/>
        <dsp:cNvSpPr/>
      </dsp:nvSpPr>
      <dsp:spPr>
        <a:xfrm>
          <a:off x="0" y="0"/>
          <a:ext cx="8412480" cy="95729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Problem Statement</a:t>
          </a:r>
          <a:endParaRPr lang="en-US" sz="1400" kern="1200"/>
        </a:p>
      </dsp:txBody>
      <dsp:txXfrm>
        <a:off x="28038" y="28038"/>
        <a:ext cx="7298593" cy="901218"/>
      </dsp:txXfrm>
    </dsp:sp>
    <dsp:sp modelId="{C009AC0A-AA20-4B19-A9A8-6AC35EB8A988}">
      <dsp:nvSpPr>
        <dsp:cNvPr id="0" name=""/>
        <dsp:cNvSpPr/>
      </dsp:nvSpPr>
      <dsp:spPr>
        <a:xfrm>
          <a:off x="704545" y="1131347"/>
          <a:ext cx="8412480" cy="957294"/>
        </a:xfrm>
        <a:prstGeom prst="roundRect">
          <a:avLst>
            <a:gd name="adj" fmla="val 10000"/>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Computer Science students are highly concerned about their employment prospects after graduation. While still in school, they want to understand the types of technical jobs that will be available to them so they can better plan their coursework and skill development in preparation for the job market.</a:t>
          </a:r>
        </a:p>
      </dsp:txBody>
      <dsp:txXfrm>
        <a:off x="732583" y="1159385"/>
        <a:ext cx="7029617" cy="901218"/>
      </dsp:txXfrm>
    </dsp:sp>
    <dsp:sp modelId="{C27031EB-0E4B-4D26-920E-971DB80E064F}">
      <dsp:nvSpPr>
        <dsp:cNvPr id="0" name=""/>
        <dsp:cNvSpPr/>
      </dsp:nvSpPr>
      <dsp:spPr>
        <a:xfrm>
          <a:off x="1398574" y="2262695"/>
          <a:ext cx="8412480" cy="957294"/>
        </a:xfrm>
        <a:prstGeom prst="roundRect">
          <a:avLst>
            <a:gd name="adj" fmla="val 10000"/>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Solution</a:t>
          </a:r>
          <a:endParaRPr lang="en-US" sz="1400" kern="1200"/>
        </a:p>
      </dsp:txBody>
      <dsp:txXfrm>
        <a:off x="1426612" y="2290733"/>
        <a:ext cx="7040133" cy="901218"/>
      </dsp:txXfrm>
    </dsp:sp>
    <dsp:sp modelId="{ED1CFF12-9D71-455B-A3A6-49E1CDA8E177}">
      <dsp:nvSpPr>
        <dsp:cNvPr id="0" name=""/>
        <dsp:cNvSpPr/>
      </dsp:nvSpPr>
      <dsp:spPr>
        <a:xfrm>
          <a:off x="2103119" y="3394043"/>
          <a:ext cx="8412480" cy="957294"/>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This project supports Computer Science career planning through a chatbot designed specifically to provide career-related guidance. The chatbot focuses on technical career paths to help students explore job categories, required skills, and preparation strategies while avoiding unrelated or non-technical inquiries.</a:t>
          </a:r>
        </a:p>
      </dsp:txBody>
      <dsp:txXfrm>
        <a:off x="2131157" y="3422081"/>
        <a:ext cx="7029617" cy="901218"/>
      </dsp:txXfrm>
    </dsp:sp>
    <dsp:sp modelId="{951B31C4-6EFD-4401-B7A2-220D8B03927B}">
      <dsp:nvSpPr>
        <dsp:cNvPr id="0" name=""/>
        <dsp:cNvSpPr/>
      </dsp:nvSpPr>
      <dsp:spPr>
        <a:xfrm>
          <a:off x="7790238" y="733200"/>
          <a:ext cx="622241" cy="622241"/>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24BEF109-3476-47D4-B3D1-CD554F7F5C74}">
      <dsp:nvSpPr>
        <dsp:cNvPr id="0" name=""/>
        <dsp:cNvSpPr/>
      </dsp:nvSpPr>
      <dsp:spPr>
        <a:xfrm>
          <a:off x="8494783" y="1864548"/>
          <a:ext cx="622241" cy="622241"/>
        </a:xfrm>
        <a:prstGeom prst="downArrow">
          <a:avLst>
            <a:gd name="adj1" fmla="val 55000"/>
            <a:gd name="adj2" fmla="val 45000"/>
          </a:avLst>
        </a:prstGeom>
        <a:solidFill>
          <a:schemeClr val="accent5">
            <a:tint val="40000"/>
            <a:alpha val="90000"/>
            <a:hueOff val="-5972333"/>
            <a:satOff val="1333"/>
            <a:lumOff val="20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D81788C5-5432-4A3A-A550-AF0ABD7657BD}">
      <dsp:nvSpPr>
        <dsp:cNvPr id="0" name=""/>
        <dsp:cNvSpPr/>
      </dsp:nvSpPr>
      <dsp:spPr>
        <a:xfrm>
          <a:off x="9188813" y="2995896"/>
          <a:ext cx="622241" cy="622241"/>
        </a:xfrm>
        <a:prstGeom prst="downArrow">
          <a:avLst>
            <a:gd name="adj1" fmla="val 55000"/>
            <a:gd name="adj2" fmla="val 45000"/>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8B34D3-B7BC-4D8D-90E5-D72BEAF50AA7}"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3BAEDA-166F-4E69-BC4F-3479E85C510C}" type="slidenum">
              <a:rPr lang="en-US" smtClean="0"/>
              <a:t>‹#›</a:t>
            </a:fld>
            <a:endParaRPr lang="en-US"/>
          </a:p>
        </p:txBody>
      </p:sp>
    </p:spTree>
    <p:extLst>
      <p:ext uri="{BB962C8B-B14F-4D97-AF65-F5344CB8AC3E}">
        <p14:creationId xmlns:p14="http://schemas.microsoft.com/office/powerpoint/2010/main" val="3213856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https://github.com/lousapia/ai-literacy-chatbot/tree/main?tab=readme-ov-file#readme</a:t>
            </a:r>
          </a:p>
          <a:p>
            <a:r>
              <a:rPr lang="en-US" dirty="0" err="1"/>
              <a:t>uvicorn</a:t>
            </a:r>
            <a:r>
              <a:rPr lang="en-US" dirty="0"/>
              <a:t> </a:t>
            </a:r>
            <a:r>
              <a:rPr lang="en-US" dirty="0" err="1"/>
              <a:t>main:app</a:t>
            </a:r>
            <a:r>
              <a:rPr lang="en-US" dirty="0"/>
              <a:t> --reload</a:t>
            </a:r>
          </a:p>
          <a:p>
            <a:r>
              <a:rPr lang="en-US" dirty="0"/>
              <a:t> http://127.0.0.1:8000/ui</a:t>
            </a:r>
          </a:p>
          <a:p>
            <a:r>
              <a:rPr lang="en-US" dirty="0"/>
              <a:t>http://        → protocol (how to communicate)</a:t>
            </a:r>
          </a:p>
          <a:p>
            <a:r>
              <a:rPr lang="en-US" dirty="0"/>
              <a:t>127.0.0.1      → server address (where to send the request)</a:t>
            </a:r>
          </a:p>
          <a:p>
            <a:r>
              <a:rPr lang="en-US" dirty="0"/>
              <a:t>:8000          → port (which application on that machine)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server knows to communicate with FastAPI because you explicitly tell it which app to run when you start Uvicorn.</a:t>
            </a:r>
            <a:endParaRPr lang="en-US" dirty="0"/>
          </a:p>
          <a:p>
            <a:endParaRPr lang="en-US" dirty="0"/>
          </a:p>
        </p:txBody>
      </p:sp>
      <p:sp>
        <p:nvSpPr>
          <p:cNvPr id="4" name="Slide Number Placeholder 3"/>
          <p:cNvSpPr>
            <a:spLocks noGrp="1"/>
          </p:cNvSpPr>
          <p:nvPr>
            <p:ph type="sldNum" sz="quarter" idx="5"/>
          </p:nvPr>
        </p:nvSpPr>
        <p:spPr/>
        <p:txBody>
          <a:bodyPr/>
          <a:lstStyle/>
          <a:p>
            <a:fld id="{A83BAEDA-166F-4E69-BC4F-3479E85C510C}" type="slidenum">
              <a:rPr lang="en-US" smtClean="0"/>
              <a:t>3</a:t>
            </a:fld>
            <a:endParaRPr lang="en-US"/>
          </a:p>
        </p:txBody>
      </p:sp>
    </p:spTree>
    <p:extLst>
      <p:ext uri="{BB962C8B-B14F-4D97-AF65-F5344CB8AC3E}">
        <p14:creationId xmlns:p14="http://schemas.microsoft.com/office/powerpoint/2010/main" val="771224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AB213-148C-E9E1-A7CC-7DABAC528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D11A5-8DF2-90AF-9D47-1A684E8FDB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AEA46F-76A4-9236-DF18-19BB04942F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0E445D-121F-6953-B8EF-BE9AC6C4564B}"/>
              </a:ext>
            </a:extLst>
          </p:cNvPr>
          <p:cNvSpPr>
            <a:spLocks noGrp="1"/>
          </p:cNvSpPr>
          <p:nvPr>
            <p:ph type="sldNum" sz="quarter" idx="5"/>
          </p:nvPr>
        </p:nvSpPr>
        <p:spPr/>
        <p:txBody>
          <a:bodyPr/>
          <a:lstStyle/>
          <a:p>
            <a:fld id="{A83BAEDA-166F-4E69-BC4F-3479E85C510C}" type="slidenum">
              <a:rPr lang="en-US" smtClean="0"/>
              <a:t>4</a:t>
            </a:fld>
            <a:endParaRPr lang="en-US"/>
          </a:p>
        </p:txBody>
      </p:sp>
    </p:spTree>
    <p:extLst>
      <p:ext uri="{BB962C8B-B14F-4D97-AF65-F5344CB8AC3E}">
        <p14:creationId xmlns:p14="http://schemas.microsoft.com/office/powerpoint/2010/main" val="2412845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F546-90E5-912C-D49F-1E77F1A63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C3E68-9982-78CB-58F5-1904E6C2798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F123AB-C121-EE2E-B617-97B4B01CB7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138B68-7353-D7D9-67B7-4D8CC917A041}"/>
              </a:ext>
            </a:extLst>
          </p:cNvPr>
          <p:cNvSpPr>
            <a:spLocks noGrp="1"/>
          </p:cNvSpPr>
          <p:nvPr>
            <p:ph type="sldNum" sz="quarter" idx="5"/>
          </p:nvPr>
        </p:nvSpPr>
        <p:spPr/>
        <p:txBody>
          <a:bodyPr/>
          <a:lstStyle/>
          <a:p>
            <a:fld id="{A83BAEDA-166F-4E69-BC4F-3479E85C510C}" type="slidenum">
              <a:rPr lang="en-US" smtClean="0"/>
              <a:t>10</a:t>
            </a:fld>
            <a:endParaRPr lang="en-US"/>
          </a:p>
        </p:txBody>
      </p:sp>
    </p:spTree>
    <p:extLst>
      <p:ext uri="{BB962C8B-B14F-4D97-AF65-F5344CB8AC3E}">
        <p14:creationId xmlns:p14="http://schemas.microsoft.com/office/powerpoint/2010/main" val="2750691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The server knows to communicate with FastAPI because you explicitly tell it which app to run when you start Uvicorn.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http://127.0.0.1:8000/ui</a:t>
            </a:r>
          </a:p>
          <a:p>
            <a:endParaRPr lang="en-US" dirty="0"/>
          </a:p>
        </p:txBody>
      </p:sp>
      <p:sp>
        <p:nvSpPr>
          <p:cNvPr id="4" name="Slide Number Placeholder 3"/>
          <p:cNvSpPr>
            <a:spLocks noGrp="1"/>
          </p:cNvSpPr>
          <p:nvPr>
            <p:ph type="sldNum" sz="quarter" idx="5"/>
          </p:nvPr>
        </p:nvSpPr>
        <p:spPr/>
        <p:txBody>
          <a:bodyPr/>
          <a:lstStyle/>
          <a:p>
            <a:fld id="{A83BAEDA-166F-4E69-BC4F-3479E85C510C}" type="slidenum">
              <a:rPr lang="en-US" smtClean="0"/>
              <a:t>11</a:t>
            </a:fld>
            <a:endParaRPr lang="en-US"/>
          </a:p>
        </p:txBody>
      </p:sp>
    </p:spTree>
    <p:extLst>
      <p:ext uri="{BB962C8B-B14F-4D97-AF65-F5344CB8AC3E}">
        <p14:creationId xmlns:p14="http://schemas.microsoft.com/office/powerpoint/2010/main" val="1581210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r>
              <a:rPr lang="en-US" dirty="0"/>
              <a:t>https://github.com/lousapia/ai-literacy-chatbot/tree/main?tab=readme-ov-file#readme</a:t>
            </a:r>
          </a:p>
          <a:p>
            <a:r>
              <a:rPr lang="en-US" dirty="0" err="1"/>
              <a:t>uvicorn</a:t>
            </a:r>
            <a:r>
              <a:rPr lang="en-US" dirty="0"/>
              <a:t> </a:t>
            </a:r>
            <a:r>
              <a:rPr lang="en-US" dirty="0" err="1"/>
              <a:t>main:app</a:t>
            </a:r>
            <a:r>
              <a:rPr lang="en-US" dirty="0"/>
              <a:t> --reload</a:t>
            </a:r>
          </a:p>
          <a:p>
            <a:r>
              <a:rPr lang="en-US" dirty="0"/>
              <a:t> http://127.0.0.1:8000/ui</a:t>
            </a:r>
          </a:p>
          <a:p>
            <a:endParaRPr lang="en-US" dirty="0"/>
          </a:p>
          <a:p>
            <a:endParaRPr lang="en-US" dirty="0"/>
          </a:p>
        </p:txBody>
      </p:sp>
      <p:sp>
        <p:nvSpPr>
          <p:cNvPr id="4" name="Slide Number Placeholder 3"/>
          <p:cNvSpPr>
            <a:spLocks noGrp="1"/>
          </p:cNvSpPr>
          <p:nvPr>
            <p:ph type="sldNum" sz="quarter" idx="5"/>
          </p:nvPr>
        </p:nvSpPr>
        <p:spPr/>
        <p:txBody>
          <a:bodyPr/>
          <a:lstStyle/>
          <a:p>
            <a:fld id="{A83BAEDA-166F-4E69-BC4F-3479E85C510C}" type="slidenum">
              <a:rPr lang="en-US" smtClean="0"/>
              <a:t>15</a:t>
            </a:fld>
            <a:endParaRPr lang="en-US"/>
          </a:p>
        </p:txBody>
      </p:sp>
    </p:spTree>
    <p:extLst>
      <p:ext uri="{BB962C8B-B14F-4D97-AF65-F5344CB8AC3E}">
        <p14:creationId xmlns:p14="http://schemas.microsoft.com/office/powerpoint/2010/main" val="3337204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4D8F0-5C91-A1EE-FF1E-A4E9F1E95C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D5779F-4D71-6260-020B-2545CAAC89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48D516-6C5C-9ECE-1D86-A93EB1492693}"/>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5" name="Footer Placeholder 4">
            <a:extLst>
              <a:ext uri="{FF2B5EF4-FFF2-40B4-BE49-F238E27FC236}">
                <a16:creationId xmlns:a16="http://schemas.microsoft.com/office/drawing/2014/main" id="{E65B60D5-7F0B-FA20-4277-888D9FDACE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27EF01-26F1-135D-0788-747D58D79800}"/>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1784222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EB254-24C4-FC3A-EA9D-A86F6ECDF0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3E852B-1C63-8E04-9580-5A9366EAC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05CB2-67B2-A390-3A4A-D7B64545EBE6}"/>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5" name="Footer Placeholder 4">
            <a:extLst>
              <a:ext uri="{FF2B5EF4-FFF2-40B4-BE49-F238E27FC236}">
                <a16:creationId xmlns:a16="http://schemas.microsoft.com/office/drawing/2014/main" id="{66CC965F-8171-5F62-AB41-CB262A181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CF1C-FEE1-A0F0-EF6D-799E4AA2A930}"/>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2899157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A4A92-9AD4-EADB-6902-A3DE176DF3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967883-AA8A-1667-6CE1-6852AE8F11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E92911-8FF6-6C19-28E1-12E1EA3BC003}"/>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5" name="Footer Placeholder 4">
            <a:extLst>
              <a:ext uri="{FF2B5EF4-FFF2-40B4-BE49-F238E27FC236}">
                <a16:creationId xmlns:a16="http://schemas.microsoft.com/office/drawing/2014/main" id="{EA8A22E4-DC7E-9A39-2BD2-6D15A16B6B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397025-F286-CDE9-D909-B21E7C15B1A2}"/>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3706984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D932-A11F-B8A9-E950-2E6E7A6C8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509A8D-8CC5-2641-6DE0-7548907C4D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23929E-6E0B-BD03-CB95-3EE87DF785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3CE29C-F746-36C2-146D-0CA7742E2BDE}"/>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6" name="Footer Placeholder 5">
            <a:extLst>
              <a:ext uri="{FF2B5EF4-FFF2-40B4-BE49-F238E27FC236}">
                <a16:creationId xmlns:a16="http://schemas.microsoft.com/office/drawing/2014/main" id="{AEF8D19D-BEDB-269C-292A-1F65B7C770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69CF84-5530-35F7-D22F-DD83A96F9A99}"/>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14355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2248-B4B0-B5D8-DAF1-A07E20C17F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2C2716-9268-15DC-1B14-AD635660B7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2DFA2A-D0A0-E3A0-AB8B-BB7B943D6F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963F0A-8FC4-5E97-1833-66531D631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8685C-C21C-695B-C3F3-A08360367D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083D5D-748A-A7E2-41B4-A655A55ABC0F}"/>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8" name="Footer Placeholder 7">
            <a:extLst>
              <a:ext uri="{FF2B5EF4-FFF2-40B4-BE49-F238E27FC236}">
                <a16:creationId xmlns:a16="http://schemas.microsoft.com/office/drawing/2014/main" id="{2D654A32-A43B-89D2-9975-777DCBDD1B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4F5276-630F-35A7-8AC8-3C8967074C41}"/>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25389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ACA46-05F9-4D6E-060D-12B86B016D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22E2EF-6037-9F04-AFC6-31867E2C547F}"/>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4" name="Footer Placeholder 3">
            <a:extLst>
              <a:ext uri="{FF2B5EF4-FFF2-40B4-BE49-F238E27FC236}">
                <a16:creationId xmlns:a16="http://schemas.microsoft.com/office/drawing/2014/main" id="{09DA6E14-FB07-14ED-2729-9143A069DA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A991E0-B231-2FEB-A153-60DB8616AC91}"/>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1140863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043F6F-C0AB-F141-B9EC-3165B4BB1B9F}"/>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3" name="Footer Placeholder 2">
            <a:extLst>
              <a:ext uri="{FF2B5EF4-FFF2-40B4-BE49-F238E27FC236}">
                <a16:creationId xmlns:a16="http://schemas.microsoft.com/office/drawing/2014/main" id="{70D5BF2F-C7F9-2DFF-33E5-6DD848E347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9AF4E1-FA97-141E-A715-EAC5AEE9F46D}"/>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4156333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6B23B-E414-AA09-7D6E-0848B593EB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4B9480-A76A-BF8D-A060-FB2FAC65DC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9759CB-8100-A0CB-C46A-A72B67117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0CF21C-4B5A-71A6-3FC1-EEF4D372BF8D}"/>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6" name="Footer Placeholder 5">
            <a:extLst>
              <a:ext uri="{FF2B5EF4-FFF2-40B4-BE49-F238E27FC236}">
                <a16:creationId xmlns:a16="http://schemas.microsoft.com/office/drawing/2014/main" id="{A035EE64-624A-D9BC-3E2D-A1CA17E877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DB53F-0C61-BC55-61F6-3CF6CAA98DF0}"/>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3001315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2D0B9-07A0-9696-7264-19831FAA93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8F4EB0-3CFB-7138-4D40-FF86E9AF55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E625EB-CD0C-1008-FFF1-E5B7101CD7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E12EC-E3E7-B963-7676-DB3D295BA2A9}"/>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6" name="Footer Placeholder 5">
            <a:extLst>
              <a:ext uri="{FF2B5EF4-FFF2-40B4-BE49-F238E27FC236}">
                <a16:creationId xmlns:a16="http://schemas.microsoft.com/office/drawing/2014/main" id="{C1FEE5A2-1C6D-BF4A-F0FD-A3307D581E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F5156F-F11C-7DAF-F9F1-10BA035F0663}"/>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210315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7FAD1-27BD-C889-3B80-555D69AE8B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FD1C38-8825-6976-4FB8-284F81F511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425959-049A-1C7D-0F33-D4B7A83CC496}"/>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5" name="Footer Placeholder 4">
            <a:extLst>
              <a:ext uri="{FF2B5EF4-FFF2-40B4-BE49-F238E27FC236}">
                <a16:creationId xmlns:a16="http://schemas.microsoft.com/office/drawing/2014/main" id="{9AA6663C-23AB-A5C5-56E2-C06CF0B50F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179EB1-7ED4-9B37-2F3A-7C07C5CB8D7D}"/>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1466501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319C7E-32E3-5D40-E0ED-FA5CFC3677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5D1E97-9E4D-F603-C5E8-C35A65DA95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E11D2-B186-A67B-315D-D77ADEB877B0}"/>
              </a:ext>
            </a:extLst>
          </p:cNvPr>
          <p:cNvSpPr>
            <a:spLocks noGrp="1"/>
          </p:cNvSpPr>
          <p:nvPr>
            <p:ph type="dt" sz="half" idx="10"/>
          </p:nvPr>
        </p:nvSpPr>
        <p:spPr/>
        <p:txBody>
          <a:bodyPr/>
          <a:lstStyle/>
          <a:p>
            <a:fld id="{5EBD0487-FC40-48EE-B898-48913A067145}" type="datetimeFigureOut">
              <a:rPr lang="en-US" smtClean="0"/>
              <a:t>12/17/2025</a:t>
            </a:fld>
            <a:endParaRPr lang="en-US"/>
          </a:p>
        </p:txBody>
      </p:sp>
      <p:sp>
        <p:nvSpPr>
          <p:cNvPr id="5" name="Footer Placeholder 4">
            <a:extLst>
              <a:ext uri="{FF2B5EF4-FFF2-40B4-BE49-F238E27FC236}">
                <a16:creationId xmlns:a16="http://schemas.microsoft.com/office/drawing/2014/main" id="{7A5E533D-A7B2-202B-C638-2E6D513A51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9CAA2-1E7C-A481-AF65-F5061AAA7FAA}"/>
              </a:ext>
            </a:extLst>
          </p:cNvPr>
          <p:cNvSpPr>
            <a:spLocks noGrp="1"/>
          </p:cNvSpPr>
          <p:nvPr>
            <p:ph type="sldNum" sz="quarter" idx="12"/>
          </p:nvPr>
        </p:nvSpPr>
        <p:spPr/>
        <p:txBody>
          <a:bodyPr/>
          <a:lstStyle/>
          <a:p>
            <a:fld id="{65A643AA-A07C-4117-AB7B-72CED616DBB7}" type="slidenum">
              <a:rPr lang="en-US" smtClean="0"/>
              <a:t>‹#›</a:t>
            </a:fld>
            <a:endParaRPr lang="en-US"/>
          </a:p>
        </p:txBody>
      </p:sp>
    </p:spTree>
    <p:extLst>
      <p:ext uri="{BB962C8B-B14F-4D97-AF65-F5344CB8AC3E}">
        <p14:creationId xmlns:p14="http://schemas.microsoft.com/office/powerpoint/2010/main" val="4033028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9A381E-16EB-180D-664E-955C65CB87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015C30-FC49-B62D-1C06-E3E910356A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E970F9-84CD-CA94-16F3-99137E2EFC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BD0487-FC40-48EE-B898-48913A067145}" type="datetimeFigureOut">
              <a:rPr lang="en-US" smtClean="0"/>
              <a:t>12/17/2025</a:t>
            </a:fld>
            <a:endParaRPr lang="en-US"/>
          </a:p>
        </p:txBody>
      </p:sp>
      <p:sp>
        <p:nvSpPr>
          <p:cNvPr id="5" name="Footer Placeholder 4">
            <a:extLst>
              <a:ext uri="{FF2B5EF4-FFF2-40B4-BE49-F238E27FC236}">
                <a16:creationId xmlns:a16="http://schemas.microsoft.com/office/drawing/2014/main" id="{4DB7A7B4-8AB5-F33C-A86B-1DAFC9F5D6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A65172-8313-3D18-D722-BA123A5316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A643AA-A07C-4117-AB7B-72CED616DBB7}" type="slidenum">
              <a:rPr lang="en-US" smtClean="0"/>
              <a:t>‹#›</a:t>
            </a:fld>
            <a:endParaRPr lang="en-US"/>
          </a:p>
        </p:txBody>
      </p:sp>
    </p:spTree>
    <p:extLst>
      <p:ext uri="{BB962C8B-B14F-4D97-AF65-F5344CB8AC3E}">
        <p14:creationId xmlns:p14="http://schemas.microsoft.com/office/powerpoint/2010/main" val="275933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FECDA0-6CC3-D4AA-AD11-9E09CD1BC8D1}"/>
              </a:ext>
            </a:extLst>
          </p:cNvPr>
          <p:cNvPicPr>
            <a:picLocks noChangeAspect="1"/>
          </p:cNvPicPr>
          <p:nvPr/>
        </p:nvPicPr>
        <p:blipFill>
          <a:blip r:embed="rId2"/>
          <a:stretch>
            <a:fillRect/>
          </a:stretch>
        </p:blipFill>
        <p:spPr>
          <a:xfrm>
            <a:off x="1771511" y="868101"/>
            <a:ext cx="8885631" cy="3820762"/>
          </a:xfrm>
          <a:prstGeom prst="rect">
            <a:avLst/>
          </a:prstGeom>
        </p:spPr>
      </p:pic>
    </p:spTree>
    <p:extLst>
      <p:ext uri="{BB962C8B-B14F-4D97-AF65-F5344CB8AC3E}">
        <p14:creationId xmlns:p14="http://schemas.microsoft.com/office/powerpoint/2010/main" val="3746301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22C959-D3B9-3B5A-5F27-A2E900343AB7}"/>
              </a:ext>
            </a:extLst>
          </p:cNvPr>
          <p:cNvPicPr>
            <a:picLocks noChangeAspect="1"/>
          </p:cNvPicPr>
          <p:nvPr/>
        </p:nvPicPr>
        <p:blipFill>
          <a:blip r:embed="rId2">
            <a:duotone>
              <a:schemeClr val="bg2">
                <a:shade val="45000"/>
                <a:satMod val="135000"/>
              </a:schemeClr>
              <a:prstClr val="white"/>
            </a:duotone>
          </a:blip>
          <a:srcRect t="12256" b="3157"/>
          <a:stretch>
            <a:fillRect/>
          </a:stretch>
        </p:blipFill>
        <p:spPr>
          <a:xfrm>
            <a:off x="-158168" y="-13117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2318BB9D-506F-71CA-985F-33B6A5B66DA7}"/>
              </a:ext>
            </a:extLst>
          </p:cNvPr>
          <p:cNvGraphicFramePr/>
          <p:nvPr>
            <p:extLst>
              <p:ext uri="{D42A27DB-BD31-4B8C-83A1-F6EECF244321}">
                <p14:modId xmlns:p14="http://schemas.microsoft.com/office/powerpoint/2010/main" val="3290189771"/>
              </p:ext>
            </p:extLst>
          </p:nvPr>
        </p:nvGraphicFramePr>
        <p:xfrm>
          <a:off x="838200" y="706738"/>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42281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A935F43-D3CB-5407-FBC8-DDC32E2CDB1F}"/>
              </a:ext>
            </a:extLst>
          </p:cNvPr>
          <p:cNvSpPr txBox="1"/>
          <p:nvPr/>
        </p:nvSpPr>
        <p:spPr>
          <a:xfrm>
            <a:off x="640079" y="1206144"/>
            <a:ext cx="4243589" cy="935172"/>
          </a:xfrm>
          <a:prstGeom prst="rect">
            <a:avLst/>
          </a:prstGeom>
        </p:spPr>
        <p:txBody>
          <a:bodyPr vert="horz" lIns="91440" tIns="45720" rIns="91440" bIns="45720" rtlCol="0">
            <a:normAutofit fontScale="92500" lnSpcReduction="20000"/>
          </a:bodyPr>
          <a:lstStyle/>
          <a:p>
            <a:pPr indent="-228600">
              <a:lnSpc>
                <a:spcPct val="90000"/>
              </a:lnSpc>
              <a:spcAft>
                <a:spcPts val="600"/>
              </a:spcAft>
              <a:buFont typeface="Arial" panose="020B0604020202020204" pitchFamily="34" charset="0"/>
              <a:buChar char="•"/>
            </a:pPr>
            <a:r>
              <a:rPr lang="en-US" sz="2200" b="1" dirty="0">
                <a:solidFill>
                  <a:schemeClr val="tx2">
                    <a:lumMod val="75000"/>
                    <a:lumOff val="25000"/>
                  </a:schemeClr>
                </a:solidFill>
              </a:rPr>
              <a:t>AI Application Development</a:t>
            </a:r>
          </a:p>
          <a:p>
            <a:pPr indent="-228600">
              <a:lnSpc>
                <a:spcPct val="90000"/>
              </a:lnSpc>
              <a:spcAft>
                <a:spcPts val="600"/>
              </a:spcAft>
              <a:buFont typeface="Arial" panose="020B0604020202020204" pitchFamily="34" charset="0"/>
              <a:buChar char="•"/>
            </a:pPr>
            <a:endParaRPr lang="en-US" sz="2200" dirty="0"/>
          </a:p>
          <a:p>
            <a:pPr>
              <a:lnSpc>
                <a:spcPct val="90000"/>
              </a:lnSpc>
              <a:spcAft>
                <a:spcPts val="600"/>
              </a:spcAft>
            </a:pPr>
            <a:r>
              <a:rPr lang="en-US" sz="2200" b="1" dirty="0">
                <a:solidFill>
                  <a:schemeClr val="accent5"/>
                </a:solidFill>
              </a:rPr>
              <a:t>	</a:t>
            </a:r>
          </a:p>
        </p:txBody>
      </p:sp>
      <p:pic>
        <p:nvPicPr>
          <p:cNvPr id="5" name="Picture 4">
            <a:extLst>
              <a:ext uri="{FF2B5EF4-FFF2-40B4-BE49-F238E27FC236}">
                <a16:creationId xmlns:a16="http://schemas.microsoft.com/office/drawing/2014/main" id="{3E7B9F6D-1841-2F34-656D-12036DD6C980}"/>
              </a:ext>
            </a:extLst>
          </p:cNvPr>
          <p:cNvPicPr>
            <a:picLocks noChangeAspect="1"/>
          </p:cNvPicPr>
          <p:nvPr/>
        </p:nvPicPr>
        <p:blipFill>
          <a:blip r:embed="rId3">
            <a:extLst>
              <a:ext uri="{28A0092B-C50C-407E-A947-70E740481C1C}">
                <a14:useLocalDpi xmlns:a14="http://schemas.microsoft.com/office/drawing/2010/main" val="0"/>
              </a:ext>
            </a:extLst>
          </a:blip>
          <a:srcRect t="16121" r="-1" b="1733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7" name="Picture 6">
            <a:extLst>
              <a:ext uri="{FF2B5EF4-FFF2-40B4-BE49-F238E27FC236}">
                <a16:creationId xmlns:a16="http://schemas.microsoft.com/office/drawing/2014/main" id="{A1073C24-4769-D6E4-DB1C-EC479E7F4056}"/>
              </a:ext>
            </a:extLst>
          </p:cNvPr>
          <p:cNvPicPr>
            <a:picLocks noChangeAspect="1"/>
          </p:cNvPicPr>
          <p:nvPr/>
        </p:nvPicPr>
        <p:blipFill>
          <a:blip r:embed="rId4"/>
          <a:stretch>
            <a:fillRect/>
          </a:stretch>
        </p:blipFill>
        <p:spPr>
          <a:xfrm>
            <a:off x="837100" y="2633689"/>
            <a:ext cx="3136875" cy="3455402"/>
          </a:xfrm>
          <a:prstGeom prst="rect">
            <a:avLst/>
          </a:prstGeom>
        </p:spPr>
      </p:pic>
      <p:sp>
        <p:nvSpPr>
          <p:cNvPr id="8" name="TextBox 7">
            <a:extLst>
              <a:ext uri="{FF2B5EF4-FFF2-40B4-BE49-F238E27FC236}">
                <a16:creationId xmlns:a16="http://schemas.microsoft.com/office/drawing/2014/main" id="{33AE077C-3911-9CFC-CCE6-9C472777DF57}"/>
              </a:ext>
            </a:extLst>
          </p:cNvPr>
          <p:cNvSpPr txBox="1"/>
          <p:nvPr/>
        </p:nvSpPr>
        <p:spPr>
          <a:xfrm>
            <a:off x="1854012" y="2042638"/>
            <a:ext cx="1441356" cy="935172"/>
          </a:xfrm>
          <a:prstGeom prst="rect">
            <a:avLst/>
          </a:prstGeom>
        </p:spPr>
        <p:txBody>
          <a:bodyPr vert="horz" lIns="91440" tIns="45720" rIns="91440" bIns="45720" rtlCol="0">
            <a:normAutofit fontScale="92500" lnSpcReduction="20000"/>
          </a:bodyPr>
          <a:lstStyle/>
          <a:p>
            <a:pPr>
              <a:lnSpc>
                <a:spcPct val="90000"/>
              </a:lnSpc>
              <a:spcAft>
                <a:spcPts val="600"/>
              </a:spcAft>
            </a:pPr>
            <a:r>
              <a:rPr lang="en-US" sz="2200" b="1" dirty="0">
                <a:solidFill>
                  <a:schemeClr val="tx2">
                    <a:lumMod val="75000"/>
                    <a:lumOff val="25000"/>
                  </a:schemeClr>
                </a:solidFill>
              </a:rPr>
              <a:t>Chatbot</a:t>
            </a:r>
          </a:p>
          <a:p>
            <a:pPr indent="-228600">
              <a:lnSpc>
                <a:spcPct val="90000"/>
              </a:lnSpc>
              <a:spcAft>
                <a:spcPts val="600"/>
              </a:spcAft>
              <a:buFont typeface="Arial" panose="020B0604020202020204" pitchFamily="34" charset="0"/>
              <a:buChar char="•"/>
            </a:pPr>
            <a:endParaRPr lang="en-US" sz="2200" dirty="0"/>
          </a:p>
          <a:p>
            <a:pPr>
              <a:lnSpc>
                <a:spcPct val="90000"/>
              </a:lnSpc>
              <a:spcAft>
                <a:spcPts val="600"/>
              </a:spcAft>
            </a:pPr>
            <a:r>
              <a:rPr lang="en-US" sz="2200" b="1" dirty="0">
                <a:solidFill>
                  <a:schemeClr val="accent5"/>
                </a:solidFill>
              </a:rPr>
              <a:t>	</a:t>
            </a:r>
          </a:p>
        </p:txBody>
      </p:sp>
    </p:spTree>
    <p:extLst>
      <p:ext uri="{BB962C8B-B14F-4D97-AF65-F5344CB8AC3E}">
        <p14:creationId xmlns:p14="http://schemas.microsoft.com/office/powerpoint/2010/main" val="2702938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8C181-2A5D-0E5A-C7C2-E38D8E36A7C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31EC29B-02EC-1B12-BABA-3F48AD5E2FE4}"/>
              </a:ext>
            </a:extLst>
          </p:cNvPr>
          <p:cNvSpPr txBox="1"/>
          <p:nvPr/>
        </p:nvSpPr>
        <p:spPr>
          <a:xfrm>
            <a:off x="4235531" y="3005720"/>
            <a:ext cx="6096728" cy="369332"/>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FastAPI a python framework for building Web APIs</a:t>
            </a:r>
            <a:r>
              <a:rPr lang="en-US" b="1" dirty="0">
                <a:solidFill>
                  <a:srgbClr val="A02B93">
                    <a:lumMod val="75000"/>
                  </a:srgbClr>
                </a:solidFill>
                <a:latin typeface="Aptos" panose="02110004020202020204"/>
              </a:rPr>
              <a:t>.</a:t>
            </a:r>
            <a:endParaRPr lang="en-US" dirty="0"/>
          </a:p>
        </p:txBody>
      </p:sp>
      <p:sp>
        <p:nvSpPr>
          <p:cNvPr id="7" name="TextBox 6">
            <a:extLst>
              <a:ext uri="{FF2B5EF4-FFF2-40B4-BE49-F238E27FC236}">
                <a16:creationId xmlns:a16="http://schemas.microsoft.com/office/drawing/2014/main" id="{5FC02E67-A1FE-0DDC-13FA-424851CDEEDE}"/>
              </a:ext>
            </a:extLst>
          </p:cNvPr>
          <p:cNvSpPr txBox="1"/>
          <p:nvPr/>
        </p:nvSpPr>
        <p:spPr>
          <a:xfrm>
            <a:off x="4201474" y="1730218"/>
            <a:ext cx="6096728" cy="369332"/>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HTML and JavaScript web application.</a:t>
            </a:r>
            <a:endParaRPr lang="en-US" dirty="0"/>
          </a:p>
        </p:txBody>
      </p:sp>
      <p:sp>
        <p:nvSpPr>
          <p:cNvPr id="15" name="TextBox 14">
            <a:extLst>
              <a:ext uri="{FF2B5EF4-FFF2-40B4-BE49-F238E27FC236}">
                <a16:creationId xmlns:a16="http://schemas.microsoft.com/office/drawing/2014/main" id="{68CB6F6B-5FD4-4D13-D69A-9D4DED7567BF}"/>
              </a:ext>
            </a:extLst>
          </p:cNvPr>
          <p:cNvSpPr txBox="1"/>
          <p:nvPr/>
        </p:nvSpPr>
        <p:spPr>
          <a:xfrm>
            <a:off x="4116807" y="4208450"/>
            <a:ext cx="7359892" cy="369332"/>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Ollama is a tool that lets you run open-source large language models. </a:t>
            </a:r>
            <a:endParaRPr lang="en-US" dirty="0"/>
          </a:p>
        </p:txBody>
      </p:sp>
      <p:sp>
        <p:nvSpPr>
          <p:cNvPr id="18" name="TextBox 17">
            <a:extLst>
              <a:ext uri="{FF2B5EF4-FFF2-40B4-BE49-F238E27FC236}">
                <a16:creationId xmlns:a16="http://schemas.microsoft.com/office/drawing/2014/main" id="{16C089EE-DC7A-827F-5119-B5546C2A4AFF}"/>
              </a:ext>
            </a:extLst>
          </p:cNvPr>
          <p:cNvSpPr txBox="1"/>
          <p:nvPr/>
        </p:nvSpPr>
        <p:spPr>
          <a:xfrm>
            <a:off x="4116807" y="5306639"/>
            <a:ext cx="7088636" cy="646331"/>
          </a:xfrm>
          <a:prstGeom prst="rect">
            <a:avLst/>
          </a:prstGeom>
          <a:noFill/>
        </p:spPr>
        <p:txBody>
          <a:bodyPr wrap="square">
            <a:spAutoFit/>
          </a:bodyPr>
          <a:lstStyle/>
          <a:p>
            <a:r>
              <a:rPr lang="en-US" b="1" dirty="0">
                <a:solidFill>
                  <a:schemeClr val="accent5">
                    <a:lumMod val="75000"/>
                  </a:schemeClr>
                </a:solidFill>
              </a:rPr>
              <a:t>Gemma LLM is a large language model that serves as the text-generation engine within an AI system,</a:t>
            </a:r>
            <a:endParaRPr lang="en-US" dirty="0"/>
          </a:p>
        </p:txBody>
      </p:sp>
      <p:pic>
        <p:nvPicPr>
          <p:cNvPr id="19" name="Picture 18">
            <a:extLst>
              <a:ext uri="{FF2B5EF4-FFF2-40B4-BE49-F238E27FC236}">
                <a16:creationId xmlns:a16="http://schemas.microsoft.com/office/drawing/2014/main" id="{910A6DC4-C2EC-6609-8394-39D06F421100}"/>
              </a:ext>
            </a:extLst>
          </p:cNvPr>
          <p:cNvPicPr>
            <a:picLocks noChangeAspect="1"/>
          </p:cNvPicPr>
          <p:nvPr/>
        </p:nvPicPr>
        <p:blipFill>
          <a:blip r:embed="rId3"/>
          <a:stretch>
            <a:fillRect/>
          </a:stretch>
        </p:blipFill>
        <p:spPr>
          <a:xfrm>
            <a:off x="420700" y="283309"/>
            <a:ext cx="3696107" cy="5884982"/>
          </a:xfrm>
          <a:prstGeom prst="rect">
            <a:avLst/>
          </a:prstGeom>
        </p:spPr>
      </p:pic>
      <p:sp>
        <p:nvSpPr>
          <p:cNvPr id="20" name="TextBox 19">
            <a:extLst>
              <a:ext uri="{FF2B5EF4-FFF2-40B4-BE49-F238E27FC236}">
                <a16:creationId xmlns:a16="http://schemas.microsoft.com/office/drawing/2014/main" id="{79587FC7-5F13-0914-ACD3-41B28C37DC84}"/>
              </a:ext>
            </a:extLst>
          </p:cNvPr>
          <p:cNvSpPr txBox="1"/>
          <p:nvPr/>
        </p:nvSpPr>
        <p:spPr>
          <a:xfrm>
            <a:off x="4235531" y="453428"/>
            <a:ext cx="6096728" cy="646331"/>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Uvicorn Web Server for taking requests and delivering information.</a:t>
            </a:r>
            <a:endParaRPr lang="en-US" dirty="0"/>
          </a:p>
        </p:txBody>
      </p:sp>
      <p:pic>
        <p:nvPicPr>
          <p:cNvPr id="21" name="Picture 20">
            <a:extLst>
              <a:ext uri="{FF2B5EF4-FFF2-40B4-BE49-F238E27FC236}">
                <a16:creationId xmlns:a16="http://schemas.microsoft.com/office/drawing/2014/main" id="{E59A0E0C-6B5C-4021-D04C-927A05DD48AB}"/>
              </a:ext>
            </a:extLst>
          </p:cNvPr>
          <p:cNvPicPr>
            <a:picLocks noChangeAspect="1"/>
          </p:cNvPicPr>
          <p:nvPr/>
        </p:nvPicPr>
        <p:blipFill>
          <a:blip r:embed="rId4"/>
          <a:stretch>
            <a:fillRect/>
          </a:stretch>
        </p:blipFill>
        <p:spPr>
          <a:xfrm>
            <a:off x="2372926" y="6074776"/>
            <a:ext cx="6578154" cy="499915"/>
          </a:xfrm>
          <a:prstGeom prst="rect">
            <a:avLst/>
          </a:prstGeom>
        </p:spPr>
      </p:pic>
    </p:spTree>
    <p:extLst>
      <p:ext uri="{BB962C8B-B14F-4D97-AF65-F5344CB8AC3E}">
        <p14:creationId xmlns:p14="http://schemas.microsoft.com/office/powerpoint/2010/main" val="5202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8CA2DDD-0266-A482-4623-CD7F60DD7B9F}"/>
              </a:ext>
            </a:extLst>
          </p:cNvPr>
          <p:cNvGraphicFramePr>
            <a:graphicFrameLocks noGrp="1"/>
          </p:cNvGraphicFramePr>
          <p:nvPr>
            <p:extLst>
              <p:ext uri="{D42A27DB-BD31-4B8C-83A1-F6EECF244321}">
                <p14:modId xmlns:p14="http://schemas.microsoft.com/office/powerpoint/2010/main" val="308743010"/>
              </p:ext>
            </p:extLst>
          </p:nvPr>
        </p:nvGraphicFramePr>
        <p:xfrm>
          <a:off x="1071033" y="1308605"/>
          <a:ext cx="9173634" cy="5164425"/>
        </p:xfrm>
        <a:graphic>
          <a:graphicData uri="http://schemas.openxmlformats.org/drawingml/2006/table">
            <a:tbl>
              <a:tblPr firstRow="1" bandRow="1"/>
              <a:tblGrid>
                <a:gridCol w="4586817">
                  <a:extLst>
                    <a:ext uri="{9D8B030D-6E8A-4147-A177-3AD203B41FA5}">
                      <a16:colId xmlns:a16="http://schemas.microsoft.com/office/drawing/2014/main" val="20000"/>
                    </a:ext>
                  </a:extLst>
                </a:gridCol>
                <a:gridCol w="4586817">
                  <a:extLst>
                    <a:ext uri="{9D8B030D-6E8A-4147-A177-3AD203B41FA5}">
                      <a16:colId xmlns:a16="http://schemas.microsoft.com/office/drawing/2014/main" val="20001"/>
                    </a:ext>
                  </a:extLst>
                </a:gridCol>
              </a:tblGrid>
              <a:tr h="778417">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dirty="0"/>
                        <a:t>Server Option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dirty="0"/>
                        <a:t>Considerations</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82974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Uvicorn (Chosen)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Simple, lightweight server that is optimized for FastAPI, async requests, and local AI services.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77841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Gunicorn (WSGI-only)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Built for synchronous apps</a:t>
                      </a:r>
                      <a:r>
                        <a:rPr lang="en-US" dirty="0"/>
                        <a:t> – handles only one user at a time</a:t>
                      </a:r>
                      <a:r>
                        <a:rPr dirty="0"/>
                        <a:t>; does not natively support FastAPI async behavior.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77841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Django Built-in Server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Development-only; production requires additional ASGI</a:t>
                      </a:r>
                      <a:r>
                        <a:rPr lang="en-US" dirty="0"/>
                        <a:t> (Asynchronous Server Gateway Interface)</a:t>
                      </a:r>
                      <a:r>
                        <a:rPr dirty="0"/>
                        <a:t> configuration.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77841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Node.js / Express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Python-native and does not integrate cleanly with Python AI tooling.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94904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Flask Development Server</a:t>
                      </a:r>
                    </a:p>
                    <a:p>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Single-threaded and not designed for concurrent or production workloads.</a:t>
                      </a:r>
                    </a:p>
                    <a:p>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bl>
          </a:graphicData>
        </a:graphic>
      </p:graphicFrame>
      <p:pic>
        <p:nvPicPr>
          <p:cNvPr id="7" name="Picture 6">
            <a:extLst>
              <a:ext uri="{FF2B5EF4-FFF2-40B4-BE49-F238E27FC236}">
                <a16:creationId xmlns:a16="http://schemas.microsoft.com/office/drawing/2014/main" id="{1205E579-FE2F-348F-D338-76ED2A64C9CD}"/>
              </a:ext>
            </a:extLst>
          </p:cNvPr>
          <p:cNvPicPr>
            <a:picLocks noChangeAspect="1"/>
          </p:cNvPicPr>
          <p:nvPr/>
        </p:nvPicPr>
        <p:blipFill>
          <a:blip r:embed="rId2"/>
          <a:stretch>
            <a:fillRect/>
          </a:stretch>
        </p:blipFill>
        <p:spPr>
          <a:xfrm>
            <a:off x="1218383" y="141302"/>
            <a:ext cx="3628367" cy="1121957"/>
          </a:xfrm>
          <a:prstGeom prst="rect">
            <a:avLst/>
          </a:prstGeom>
        </p:spPr>
      </p:pic>
      <p:sp>
        <p:nvSpPr>
          <p:cNvPr id="9" name="TextBox 8">
            <a:extLst>
              <a:ext uri="{FF2B5EF4-FFF2-40B4-BE49-F238E27FC236}">
                <a16:creationId xmlns:a16="http://schemas.microsoft.com/office/drawing/2014/main" id="{CC07AAB8-C8B9-3032-38E2-E3D1BDC72570}"/>
              </a:ext>
            </a:extLst>
          </p:cNvPr>
          <p:cNvSpPr txBox="1"/>
          <p:nvPr/>
        </p:nvSpPr>
        <p:spPr>
          <a:xfrm>
            <a:off x="5355220" y="195271"/>
            <a:ext cx="609600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A02B93">
                    <a:lumMod val="75000"/>
                  </a:srgbClr>
                </a:solidFill>
                <a:latin typeface="Aptos" panose="02110004020202020204"/>
              </a:rPr>
              <a:t>Uvicorn Server was chosen because it is a simple lightweight server that coordinates well with other components chosen for the project.</a:t>
            </a:r>
            <a:endPar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7023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CF68EA2-3C77-A7CF-32FA-3EDEE0269F4A}"/>
              </a:ext>
            </a:extLst>
          </p:cNvPr>
          <p:cNvGraphicFramePr>
            <a:graphicFrameLocks noGrp="1"/>
          </p:cNvGraphicFramePr>
          <p:nvPr>
            <p:extLst>
              <p:ext uri="{D42A27DB-BD31-4B8C-83A1-F6EECF244321}">
                <p14:modId xmlns:p14="http://schemas.microsoft.com/office/powerpoint/2010/main" val="784599023"/>
              </p:ext>
            </p:extLst>
          </p:nvPr>
        </p:nvGraphicFramePr>
        <p:xfrm>
          <a:off x="919382" y="1634484"/>
          <a:ext cx="9946836" cy="4733880"/>
        </p:xfrm>
        <a:graphic>
          <a:graphicData uri="http://schemas.openxmlformats.org/drawingml/2006/table">
            <a:tbl>
              <a:tblPr firstRow="1" bandRow="1"/>
              <a:tblGrid>
                <a:gridCol w="2486709">
                  <a:extLst>
                    <a:ext uri="{9D8B030D-6E8A-4147-A177-3AD203B41FA5}">
                      <a16:colId xmlns:a16="http://schemas.microsoft.com/office/drawing/2014/main" val="20000"/>
                    </a:ext>
                  </a:extLst>
                </a:gridCol>
                <a:gridCol w="2486709">
                  <a:extLst>
                    <a:ext uri="{9D8B030D-6E8A-4147-A177-3AD203B41FA5}">
                      <a16:colId xmlns:a16="http://schemas.microsoft.com/office/drawing/2014/main" val="20001"/>
                    </a:ext>
                  </a:extLst>
                </a:gridCol>
                <a:gridCol w="2486709">
                  <a:extLst>
                    <a:ext uri="{9D8B030D-6E8A-4147-A177-3AD203B41FA5}">
                      <a16:colId xmlns:a16="http://schemas.microsoft.com/office/drawing/2014/main" val="20002"/>
                    </a:ext>
                  </a:extLst>
                </a:gridCol>
                <a:gridCol w="2486709">
                  <a:extLst>
                    <a:ext uri="{9D8B030D-6E8A-4147-A177-3AD203B41FA5}">
                      <a16:colId xmlns:a16="http://schemas.microsoft.com/office/drawing/2014/main" val="20003"/>
                    </a:ext>
                  </a:extLst>
                </a:gridCol>
              </a:tblGrid>
              <a:tr h="72627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t>UI Option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dirty="0"/>
                        <a:t>Pros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dirty="0"/>
                        <a:t>Cons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dirty="0"/>
                        <a:t>Decision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72627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HTML + JavaScript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Simple, clear, teachable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Basic UI features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Chosen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72627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Streamlit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Built-in UI components, fast to develop</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UI and backend tightly coupled hiding AI</a:t>
                      </a:r>
                      <a:r>
                        <a:rPr dirty="0"/>
                        <a:t> architecture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72627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React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Scalable, modern</a:t>
                      </a:r>
                      <a:r>
                        <a:rPr lang="en-US" dirty="0"/>
                        <a:t>, powerful UI capabilities</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Too complex for teaching</a:t>
                      </a:r>
                      <a:r>
                        <a:rPr lang="en-US" dirty="0"/>
                        <a:t> and shifts focus away from AI</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72627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Flask Templates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Simple backend rendering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Tight UI/backend coupling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72627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CLI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Minimal setup</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user-friendly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Not chosen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bl>
          </a:graphicData>
        </a:graphic>
      </p:graphicFrame>
      <p:pic>
        <p:nvPicPr>
          <p:cNvPr id="8" name="Picture 7">
            <a:extLst>
              <a:ext uri="{FF2B5EF4-FFF2-40B4-BE49-F238E27FC236}">
                <a16:creationId xmlns:a16="http://schemas.microsoft.com/office/drawing/2014/main" id="{54288C96-2E2E-9926-8C6B-1621B408D815}"/>
              </a:ext>
            </a:extLst>
          </p:cNvPr>
          <p:cNvPicPr>
            <a:picLocks noChangeAspect="1"/>
          </p:cNvPicPr>
          <p:nvPr/>
        </p:nvPicPr>
        <p:blipFill>
          <a:blip r:embed="rId2"/>
          <a:stretch>
            <a:fillRect/>
          </a:stretch>
        </p:blipFill>
        <p:spPr>
          <a:xfrm>
            <a:off x="1255335" y="301178"/>
            <a:ext cx="3528279" cy="1071502"/>
          </a:xfrm>
          <a:prstGeom prst="rect">
            <a:avLst/>
          </a:prstGeom>
        </p:spPr>
      </p:pic>
      <p:sp>
        <p:nvSpPr>
          <p:cNvPr id="10" name="TextBox 9">
            <a:extLst>
              <a:ext uri="{FF2B5EF4-FFF2-40B4-BE49-F238E27FC236}">
                <a16:creationId xmlns:a16="http://schemas.microsoft.com/office/drawing/2014/main" id="{CF207B90-D2CB-8FF1-E10D-301C6D704FF4}"/>
              </a:ext>
            </a:extLst>
          </p:cNvPr>
          <p:cNvSpPr txBox="1"/>
          <p:nvPr/>
        </p:nvSpPr>
        <p:spPr>
          <a:xfrm>
            <a:off x="5490633" y="301178"/>
            <a:ext cx="4859868" cy="1200329"/>
          </a:xfrm>
          <a:prstGeom prst="rect">
            <a:avLst/>
          </a:prstGeom>
          <a:noFill/>
        </p:spPr>
        <p:txBody>
          <a:bodyPr wrap="square">
            <a:spAutoFit/>
          </a:bodyPr>
          <a:lstStyle/>
          <a:p>
            <a:r>
              <a:rPr lang="en-US" b="1" dirty="0">
                <a:solidFill>
                  <a:schemeClr val="accent5">
                    <a:lumMod val="75000"/>
                  </a:schemeClr>
                </a:solidFill>
              </a:rPr>
              <a:t>HTML and JavaScript were chosen because they provide the simplest UI that </a:t>
            </a:r>
          </a:p>
          <a:p>
            <a:r>
              <a:rPr lang="en-US" b="1" dirty="0">
                <a:solidFill>
                  <a:schemeClr val="accent5">
                    <a:lumMod val="75000"/>
                  </a:schemeClr>
                </a:solidFill>
              </a:rPr>
              <a:t>clearly demonstrates how AI systems communicate over the web.</a:t>
            </a:r>
          </a:p>
        </p:txBody>
      </p:sp>
    </p:spTree>
    <p:extLst>
      <p:ext uri="{BB962C8B-B14F-4D97-AF65-F5344CB8AC3E}">
        <p14:creationId xmlns:p14="http://schemas.microsoft.com/office/powerpoint/2010/main" val="3677567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CA3C76-3003-2872-FF0D-88B10AC103AF}"/>
              </a:ext>
            </a:extLst>
          </p:cNvPr>
          <p:cNvPicPr>
            <a:picLocks noChangeAspect="1"/>
          </p:cNvPicPr>
          <p:nvPr/>
        </p:nvPicPr>
        <p:blipFill>
          <a:blip r:embed="rId2"/>
          <a:stretch>
            <a:fillRect/>
          </a:stretch>
        </p:blipFill>
        <p:spPr>
          <a:xfrm>
            <a:off x="1103453" y="56901"/>
            <a:ext cx="4520584" cy="1357173"/>
          </a:xfrm>
          <a:prstGeom prst="rect">
            <a:avLst/>
          </a:prstGeom>
        </p:spPr>
      </p:pic>
      <p:graphicFrame>
        <p:nvGraphicFramePr>
          <p:cNvPr id="25" name="Table 24">
            <a:extLst>
              <a:ext uri="{FF2B5EF4-FFF2-40B4-BE49-F238E27FC236}">
                <a16:creationId xmlns:a16="http://schemas.microsoft.com/office/drawing/2014/main" id="{894F26B8-5DE3-0AA3-F9C6-4B4052FBCE4B}"/>
              </a:ext>
            </a:extLst>
          </p:cNvPr>
          <p:cNvGraphicFramePr>
            <a:graphicFrameLocks noGrp="1"/>
          </p:cNvGraphicFramePr>
          <p:nvPr>
            <p:extLst>
              <p:ext uri="{D42A27DB-BD31-4B8C-83A1-F6EECF244321}">
                <p14:modId xmlns:p14="http://schemas.microsoft.com/office/powerpoint/2010/main" val="3538364313"/>
              </p:ext>
            </p:extLst>
          </p:nvPr>
        </p:nvGraphicFramePr>
        <p:xfrm>
          <a:off x="533375" y="1512424"/>
          <a:ext cx="11486575" cy="4930281"/>
        </p:xfrm>
        <a:graphic>
          <a:graphicData uri="http://schemas.openxmlformats.org/drawingml/2006/table">
            <a:tbl>
              <a:tblPr firstRow="1" bandRow="1"/>
              <a:tblGrid>
                <a:gridCol w="2297315">
                  <a:extLst>
                    <a:ext uri="{9D8B030D-6E8A-4147-A177-3AD203B41FA5}">
                      <a16:colId xmlns:a16="http://schemas.microsoft.com/office/drawing/2014/main" val="20000"/>
                    </a:ext>
                  </a:extLst>
                </a:gridCol>
                <a:gridCol w="2297315">
                  <a:extLst>
                    <a:ext uri="{9D8B030D-6E8A-4147-A177-3AD203B41FA5}">
                      <a16:colId xmlns:a16="http://schemas.microsoft.com/office/drawing/2014/main" val="20001"/>
                    </a:ext>
                  </a:extLst>
                </a:gridCol>
                <a:gridCol w="2297315">
                  <a:extLst>
                    <a:ext uri="{9D8B030D-6E8A-4147-A177-3AD203B41FA5}">
                      <a16:colId xmlns:a16="http://schemas.microsoft.com/office/drawing/2014/main" val="20002"/>
                    </a:ext>
                  </a:extLst>
                </a:gridCol>
                <a:gridCol w="2297315">
                  <a:extLst>
                    <a:ext uri="{9D8B030D-6E8A-4147-A177-3AD203B41FA5}">
                      <a16:colId xmlns:a16="http://schemas.microsoft.com/office/drawing/2014/main" val="20003"/>
                    </a:ext>
                  </a:extLst>
                </a:gridCol>
                <a:gridCol w="2297315">
                  <a:extLst>
                    <a:ext uri="{9D8B030D-6E8A-4147-A177-3AD203B41FA5}">
                      <a16:colId xmlns:a16="http://schemas.microsoft.com/office/drawing/2014/main" val="20004"/>
                    </a:ext>
                  </a:extLst>
                </a:gridCol>
              </a:tblGrid>
              <a:tr h="63182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Framework</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What It Is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t>Pros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Cons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t>Why / Why Not Chosen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9026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FastAPI</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Modern Python API framework</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API-first</a:t>
                      </a:r>
                      <a:r>
                        <a:rPr lang="en-US" dirty="0"/>
                        <a:t> (main product)</a:t>
                      </a:r>
                      <a:r>
                        <a:rPr dirty="0"/>
                        <a:t>, automatic validation, auto docs, async support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Newer framework, smaller ecosystem than Flask</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Chosen – clear API behavior and ideal for AI applications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72902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Flask</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Lightweight Python web framework</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Simple, flexible, widely known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Manual validation, no built-in API docs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 – requires more boilerplate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9026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Django</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Full-stack Python web framework</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Very powerful, batteries included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Heavy, opinionated, overkill for APIs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 – too complex for focused demo</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72902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Express.js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Node.js backend framework</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Industry popular, flexible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Different language, async complexity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 – project centered on Python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72902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Streamlit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Data application framework</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Fast UI creation, beginner friendly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Not API-first, hides architecture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Not chosen – obscures backend concepts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bl>
          </a:graphicData>
        </a:graphic>
      </p:graphicFrame>
      <p:sp>
        <p:nvSpPr>
          <p:cNvPr id="27" name="TextBox 26">
            <a:extLst>
              <a:ext uri="{FF2B5EF4-FFF2-40B4-BE49-F238E27FC236}">
                <a16:creationId xmlns:a16="http://schemas.microsoft.com/office/drawing/2014/main" id="{C07336A5-7A53-C95B-31B6-2ECA90833E48}"/>
              </a:ext>
            </a:extLst>
          </p:cNvPr>
          <p:cNvSpPr txBox="1"/>
          <p:nvPr/>
        </p:nvSpPr>
        <p:spPr>
          <a:xfrm>
            <a:off x="5982173" y="56901"/>
            <a:ext cx="5937768" cy="1569660"/>
          </a:xfrm>
          <a:prstGeom prst="rect">
            <a:avLst/>
          </a:prstGeom>
          <a:noFill/>
        </p:spPr>
        <p:txBody>
          <a:bodyPr wrap="square">
            <a:spAutoFit/>
          </a:bodyPr>
          <a:lstStyle/>
          <a:p>
            <a:r>
              <a:rPr lang="en-US" sz="1600" b="1" dirty="0">
                <a:solidFill>
                  <a:schemeClr val="accent5">
                    <a:lumMod val="75000"/>
                  </a:schemeClr>
                </a:solidFill>
              </a:rPr>
              <a:t>FastAPI a python framework for building Web APIs.</a:t>
            </a:r>
          </a:p>
          <a:p>
            <a:r>
              <a:rPr lang="en-US" sz="1600" b="1" dirty="0">
                <a:solidFill>
                  <a:schemeClr val="accent5">
                    <a:lumMod val="75000"/>
                  </a:schemeClr>
                </a:solidFill>
              </a:rPr>
              <a:t>It orchestrates how your application:</a:t>
            </a:r>
          </a:p>
          <a:p>
            <a:pPr marL="742950" lvl="1" indent="-285750">
              <a:buFont typeface="Arial" panose="020B0604020202020204" pitchFamily="34" charset="0"/>
              <a:buChar char="•"/>
            </a:pPr>
            <a:r>
              <a:rPr lang="en-US" sz="1600" b="1" dirty="0">
                <a:solidFill>
                  <a:schemeClr val="accent5">
                    <a:lumMod val="75000"/>
                  </a:schemeClr>
                </a:solidFill>
              </a:rPr>
              <a:t>Receives requests</a:t>
            </a:r>
          </a:p>
          <a:p>
            <a:pPr marL="742950" lvl="1" indent="-285750">
              <a:buFont typeface="Arial" panose="020B0604020202020204" pitchFamily="34" charset="0"/>
              <a:buChar char="•"/>
            </a:pPr>
            <a:r>
              <a:rPr lang="en-US" sz="1600" b="1" dirty="0">
                <a:solidFill>
                  <a:schemeClr val="accent5">
                    <a:lumMod val="75000"/>
                  </a:schemeClr>
                </a:solidFill>
              </a:rPr>
              <a:t>Validates input</a:t>
            </a:r>
          </a:p>
          <a:p>
            <a:pPr marL="742950" lvl="1" indent="-285750">
              <a:buFont typeface="Arial" panose="020B0604020202020204" pitchFamily="34" charset="0"/>
              <a:buChar char="•"/>
            </a:pPr>
            <a:r>
              <a:rPr lang="en-US" sz="1600" b="1" dirty="0">
                <a:solidFill>
                  <a:schemeClr val="accent5">
                    <a:lumMod val="75000"/>
                  </a:schemeClr>
                </a:solidFill>
              </a:rPr>
              <a:t>Runs logic</a:t>
            </a:r>
          </a:p>
          <a:p>
            <a:pPr marL="742950" lvl="1" indent="-285750">
              <a:buFont typeface="Arial" panose="020B0604020202020204" pitchFamily="34" charset="0"/>
              <a:buChar char="•"/>
            </a:pPr>
            <a:r>
              <a:rPr lang="en-US" sz="1600" b="1" dirty="0">
                <a:solidFill>
                  <a:schemeClr val="accent5">
                    <a:lumMod val="75000"/>
                  </a:schemeClr>
                </a:solidFill>
              </a:rPr>
              <a:t>Returns responses over HTTP</a:t>
            </a:r>
          </a:p>
        </p:txBody>
      </p:sp>
    </p:spTree>
    <p:extLst>
      <p:ext uri="{BB962C8B-B14F-4D97-AF65-F5344CB8AC3E}">
        <p14:creationId xmlns:p14="http://schemas.microsoft.com/office/powerpoint/2010/main" val="264264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D3A9-E9B2-2C43-E69A-AF6E5C64082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A394F2F-7D25-5C2A-8CCC-DF2E8AF9D4FB}"/>
              </a:ext>
            </a:extLst>
          </p:cNvPr>
          <p:cNvPicPr>
            <a:picLocks noChangeAspect="1"/>
          </p:cNvPicPr>
          <p:nvPr/>
        </p:nvPicPr>
        <p:blipFill>
          <a:blip r:embed="rId2"/>
          <a:stretch>
            <a:fillRect/>
          </a:stretch>
        </p:blipFill>
        <p:spPr>
          <a:xfrm>
            <a:off x="551296" y="-555"/>
            <a:ext cx="3827355" cy="1130425"/>
          </a:xfrm>
          <a:prstGeom prst="rect">
            <a:avLst/>
          </a:prstGeom>
        </p:spPr>
      </p:pic>
      <p:sp>
        <p:nvSpPr>
          <p:cNvPr id="13" name="TextBox 12">
            <a:extLst>
              <a:ext uri="{FF2B5EF4-FFF2-40B4-BE49-F238E27FC236}">
                <a16:creationId xmlns:a16="http://schemas.microsoft.com/office/drawing/2014/main" id="{BA929C27-9521-24EC-E04E-0D978C2723C4}"/>
              </a:ext>
            </a:extLst>
          </p:cNvPr>
          <p:cNvSpPr txBox="1"/>
          <p:nvPr/>
        </p:nvSpPr>
        <p:spPr>
          <a:xfrm>
            <a:off x="5532966" y="241491"/>
            <a:ext cx="5765800" cy="646331"/>
          </a:xfrm>
          <a:prstGeom prst="rect">
            <a:avLst/>
          </a:prstGeom>
          <a:noFill/>
        </p:spPr>
        <p:txBody>
          <a:bodyPr wrap="square">
            <a:spAutoFit/>
          </a:bodyPr>
          <a:lstStyle/>
          <a:p>
            <a:r>
              <a:rPr lang="en-US" b="1" dirty="0">
                <a:solidFill>
                  <a:schemeClr val="accent5">
                    <a:lumMod val="75000"/>
                  </a:schemeClr>
                </a:solidFill>
              </a:rPr>
              <a:t>Ollama is a tool that lets you run open-source large language models locally through a simple API</a:t>
            </a:r>
          </a:p>
        </p:txBody>
      </p:sp>
      <p:graphicFrame>
        <p:nvGraphicFramePr>
          <p:cNvPr id="16" name="Table 15">
            <a:extLst>
              <a:ext uri="{FF2B5EF4-FFF2-40B4-BE49-F238E27FC236}">
                <a16:creationId xmlns:a16="http://schemas.microsoft.com/office/drawing/2014/main" id="{5975B25C-B6E8-741E-874C-CE3D2A722F84}"/>
              </a:ext>
            </a:extLst>
          </p:cNvPr>
          <p:cNvGraphicFramePr>
            <a:graphicFrameLocks noGrp="1"/>
          </p:cNvGraphicFramePr>
          <p:nvPr>
            <p:extLst>
              <p:ext uri="{D42A27DB-BD31-4B8C-83A1-F6EECF244321}">
                <p14:modId xmlns:p14="http://schemas.microsoft.com/office/powerpoint/2010/main" val="3477125423"/>
              </p:ext>
            </p:extLst>
          </p:nvPr>
        </p:nvGraphicFramePr>
        <p:xfrm>
          <a:off x="368423" y="1129870"/>
          <a:ext cx="11713510" cy="5273713"/>
        </p:xfrm>
        <a:graphic>
          <a:graphicData uri="http://schemas.openxmlformats.org/drawingml/2006/table">
            <a:tbl>
              <a:tblPr firstRow="1" bandRow="1"/>
              <a:tblGrid>
                <a:gridCol w="2342702">
                  <a:extLst>
                    <a:ext uri="{9D8B030D-6E8A-4147-A177-3AD203B41FA5}">
                      <a16:colId xmlns:a16="http://schemas.microsoft.com/office/drawing/2014/main" val="20000"/>
                    </a:ext>
                  </a:extLst>
                </a:gridCol>
                <a:gridCol w="2342702">
                  <a:extLst>
                    <a:ext uri="{9D8B030D-6E8A-4147-A177-3AD203B41FA5}">
                      <a16:colId xmlns:a16="http://schemas.microsoft.com/office/drawing/2014/main" val="20001"/>
                    </a:ext>
                  </a:extLst>
                </a:gridCol>
                <a:gridCol w="2342702">
                  <a:extLst>
                    <a:ext uri="{9D8B030D-6E8A-4147-A177-3AD203B41FA5}">
                      <a16:colId xmlns:a16="http://schemas.microsoft.com/office/drawing/2014/main" val="20002"/>
                    </a:ext>
                  </a:extLst>
                </a:gridCol>
                <a:gridCol w="2342702">
                  <a:extLst>
                    <a:ext uri="{9D8B030D-6E8A-4147-A177-3AD203B41FA5}">
                      <a16:colId xmlns:a16="http://schemas.microsoft.com/office/drawing/2014/main" val="20003"/>
                    </a:ext>
                  </a:extLst>
                </a:gridCol>
                <a:gridCol w="2342702">
                  <a:extLst>
                    <a:ext uri="{9D8B030D-6E8A-4147-A177-3AD203B41FA5}">
                      <a16:colId xmlns:a16="http://schemas.microsoft.com/office/drawing/2014/main" val="20004"/>
                    </a:ext>
                  </a:extLst>
                </a:gridCol>
              </a:tblGrid>
              <a:tr h="410961">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t>Tool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t>What It Is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Pros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Cons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Why / Why Not Chosen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97603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Ollama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Local LLM runtime with HTTP API</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Free, local, no API keys, simple API, supports many models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Requires local install, model size limits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Chosen – best balance of simplicity, control, and industry relevance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51370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OpenAI / ChatGPT API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Hosted proprietary LLM service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Very powerful models, minimal setup</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Paid, external dependency, vendor lock-in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dirty="0"/>
                        <a:t>Costs involved</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66781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Hugging Face Transformers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Direct model loading library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Full control, industry standard for ML research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Complex setup, hardware requirements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Not chosen – too ML engineering focused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51370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GPT4All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Local LLM runtime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Offline, beginner-friendly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Smaller ecosystem, fewer models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Considered, but Ollama more widely adopted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51370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LangChain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LLM orchestration framework</a:t>
                      </a:r>
                      <a:r>
                        <a:rPr lang="en-US" dirty="0"/>
                        <a:t> (RAG, tools, steps)</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Chains, memory, tools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a runtime, needs backend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Complements Ollama, does not replace it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18593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21CAD1-6D04-624F-6DAC-6703F37CAA6F}"/>
              </a:ext>
            </a:extLst>
          </p:cNvPr>
          <p:cNvPicPr>
            <a:picLocks noChangeAspect="1"/>
          </p:cNvPicPr>
          <p:nvPr/>
        </p:nvPicPr>
        <p:blipFill>
          <a:blip r:embed="rId2"/>
          <a:stretch>
            <a:fillRect/>
          </a:stretch>
        </p:blipFill>
        <p:spPr>
          <a:xfrm>
            <a:off x="669993" y="110902"/>
            <a:ext cx="4214665" cy="1177490"/>
          </a:xfrm>
          <a:prstGeom prst="rect">
            <a:avLst/>
          </a:prstGeom>
        </p:spPr>
      </p:pic>
      <p:sp>
        <p:nvSpPr>
          <p:cNvPr id="9" name="TextBox 8">
            <a:extLst>
              <a:ext uri="{FF2B5EF4-FFF2-40B4-BE49-F238E27FC236}">
                <a16:creationId xmlns:a16="http://schemas.microsoft.com/office/drawing/2014/main" id="{3911803D-635B-8B6C-B084-1B1DF7B10578}"/>
              </a:ext>
            </a:extLst>
          </p:cNvPr>
          <p:cNvSpPr txBox="1"/>
          <p:nvPr/>
        </p:nvSpPr>
        <p:spPr>
          <a:xfrm>
            <a:off x="5782732" y="181942"/>
            <a:ext cx="5438193" cy="1200329"/>
          </a:xfrm>
          <a:prstGeom prst="rect">
            <a:avLst/>
          </a:prstGeom>
          <a:noFill/>
        </p:spPr>
        <p:txBody>
          <a:bodyPr wrap="square">
            <a:spAutoFit/>
          </a:bodyPr>
          <a:lstStyle/>
          <a:p>
            <a:r>
              <a:rPr lang="en-US" b="1" dirty="0">
                <a:solidFill>
                  <a:schemeClr val="accent5">
                    <a:lumMod val="75000"/>
                  </a:schemeClr>
                </a:solidFill>
              </a:rPr>
              <a:t>Gemma LLM is a large language model that serves as the text-generation engine within an AI system, producing responses based on learned language patterns.</a:t>
            </a:r>
          </a:p>
        </p:txBody>
      </p:sp>
      <p:graphicFrame>
        <p:nvGraphicFramePr>
          <p:cNvPr id="11" name="Table 10">
            <a:extLst>
              <a:ext uri="{FF2B5EF4-FFF2-40B4-BE49-F238E27FC236}">
                <a16:creationId xmlns:a16="http://schemas.microsoft.com/office/drawing/2014/main" id="{EDDF21A3-6B67-AF21-FF66-81C2E0851AB0}"/>
              </a:ext>
            </a:extLst>
          </p:cNvPr>
          <p:cNvGraphicFramePr>
            <a:graphicFrameLocks noGrp="1"/>
          </p:cNvGraphicFramePr>
          <p:nvPr>
            <p:extLst>
              <p:ext uri="{D42A27DB-BD31-4B8C-83A1-F6EECF244321}">
                <p14:modId xmlns:p14="http://schemas.microsoft.com/office/powerpoint/2010/main" val="3631472528"/>
              </p:ext>
            </p:extLst>
          </p:nvPr>
        </p:nvGraphicFramePr>
        <p:xfrm>
          <a:off x="369426" y="1744717"/>
          <a:ext cx="11647880" cy="4216539"/>
        </p:xfrm>
        <a:graphic>
          <a:graphicData uri="http://schemas.openxmlformats.org/drawingml/2006/table">
            <a:tbl>
              <a:tblPr firstRow="1" bandRow="1"/>
              <a:tblGrid>
                <a:gridCol w="2329576">
                  <a:extLst>
                    <a:ext uri="{9D8B030D-6E8A-4147-A177-3AD203B41FA5}">
                      <a16:colId xmlns:a16="http://schemas.microsoft.com/office/drawing/2014/main" val="20000"/>
                    </a:ext>
                  </a:extLst>
                </a:gridCol>
                <a:gridCol w="2329576">
                  <a:extLst>
                    <a:ext uri="{9D8B030D-6E8A-4147-A177-3AD203B41FA5}">
                      <a16:colId xmlns:a16="http://schemas.microsoft.com/office/drawing/2014/main" val="20001"/>
                    </a:ext>
                  </a:extLst>
                </a:gridCol>
                <a:gridCol w="2329576">
                  <a:extLst>
                    <a:ext uri="{9D8B030D-6E8A-4147-A177-3AD203B41FA5}">
                      <a16:colId xmlns:a16="http://schemas.microsoft.com/office/drawing/2014/main" val="20002"/>
                    </a:ext>
                  </a:extLst>
                </a:gridCol>
                <a:gridCol w="2329576">
                  <a:extLst>
                    <a:ext uri="{9D8B030D-6E8A-4147-A177-3AD203B41FA5}">
                      <a16:colId xmlns:a16="http://schemas.microsoft.com/office/drawing/2014/main" val="20003"/>
                    </a:ext>
                  </a:extLst>
                </a:gridCol>
                <a:gridCol w="2329576">
                  <a:extLst>
                    <a:ext uri="{9D8B030D-6E8A-4147-A177-3AD203B41FA5}">
                      <a16:colId xmlns:a16="http://schemas.microsoft.com/office/drawing/2014/main" val="20004"/>
                    </a:ext>
                  </a:extLst>
                </a:gridCol>
              </a:tblGrid>
              <a:tr h="444561">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Model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What It Is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dirty="0"/>
                        <a:t>Pros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Cons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t>Why / Why Not Chosen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0161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Gemma (2B/4B)</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Open-source LLM by Google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Efficient on CPU, predictable output, open-source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Smaller than flagship models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Chosen – best balance of speed, reliability, and teaching value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63508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Llama 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Open-source LLM by Meta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Very strong reasoning, large ecosystem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Slower on CPU, higher memory use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 – heavier for live demos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63508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Mistral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Open-source LLM by Mistral AI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High performance for size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Less consistent formatting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Not chosen – harder to control output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63508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GPT-4 / ChatGPT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Proprietary hosted LLM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Top-tier performance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Paid, external dependency</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Not chosen –</a:t>
                      </a:r>
                      <a:r>
                        <a:rPr lang="en-US" dirty="0"/>
                        <a:t> Cost associated</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63508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Claude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Proprietary hosted LLM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Strong safety and reasoning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t>Paid, no local execution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dirty="0"/>
                        <a:t>Not chosen </a:t>
                      </a:r>
                      <a:r>
                        <a:rPr lang="en-US" dirty="0"/>
                        <a:t>– Cost associated</a:t>
                      </a:r>
                      <a:endParaRPr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72176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F7ACA-993A-1AE0-9E7A-FD936D1A209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98FA92A-88BD-F1E6-2277-E1EF70C8F465}"/>
              </a:ext>
            </a:extLst>
          </p:cNvPr>
          <p:cNvSpPr txBox="1"/>
          <p:nvPr/>
        </p:nvSpPr>
        <p:spPr>
          <a:xfrm>
            <a:off x="4235531" y="3005720"/>
            <a:ext cx="6096728" cy="369332"/>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FastAPI a python framework for building Web APIs</a:t>
            </a:r>
            <a:r>
              <a:rPr lang="en-US" b="1" dirty="0">
                <a:solidFill>
                  <a:srgbClr val="A02B93">
                    <a:lumMod val="75000"/>
                  </a:srgbClr>
                </a:solidFill>
                <a:latin typeface="Aptos" panose="02110004020202020204"/>
              </a:rPr>
              <a:t>.</a:t>
            </a:r>
            <a:endParaRPr lang="en-US" dirty="0"/>
          </a:p>
        </p:txBody>
      </p:sp>
      <p:sp>
        <p:nvSpPr>
          <p:cNvPr id="7" name="TextBox 6">
            <a:extLst>
              <a:ext uri="{FF2B5EF4-FFF2-40B4-BE49-F238E27FC236}">
                <a16:creationId xmlns:a16="http://schemas.microsoft.com/office/drawing/2014/main" id="{0825A0F9-DD83-70C9-F01C-24EEF4CB41B9}"/>
              </a:ext>
            </a:extLst>
          </p:cNvPr>
          <p:cNvSpPr txBox="1"/>
          <p:nvPr/>
        </p:nvSpPr>
        <p:spPr>
          <a:xfrm>
            <a:off x="4201474" y="1730218"/>
            <a:ext cx="6096728" cy="369332"/>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HTML and JavaScript web application.</a:t>
            </a:r>
            <a:endParaRPr lang="en-US" dirty="0"/>
          </a:p>
        </p:txBody>
      </p:sp>
      <p:sp>
        <p:nvSpPr>
          <p:cNvPr id="15" name="TextBox 14">
            <a:extLst>
              <a:ext uri="{FF2B5EF4-FFF2-40B4-BE49-F238E27FC236}">
                <a16:creationId xmlns:a16="http://schemas.microsoft.com/office/drawing/2014/main" id="{DD570FA6-FBB7-C46C-45D8-94F32A057479}"/>
              </a:ext>
            </a:extLst>
          </p:cNvPr>
          <p:cNvSpPr txBox="1"/>
          <p:nvPr/>
        </p:nvSpPr>
        <p:spPr>
          <a:xfrm>
            <a:off x="4116807" y="4208450"/>
            <a:ext cx="7359892" cy="369332"/>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Ollama is a tool that lets you run open-source large language models. </a:t>
            </a:r>
            <a:endParaRPr lang="en-US" dirty="0"/>
          </a:p>
        </p:txBody>
      </p:sp>
      <p:sp>
        <p:nvSpPr>
          <p:cNvPr id="18" name="TextBox 17">
            <a:extLst>
              <a:ext uri="{FF2B5EF4-FFF2-40B4-BE49-F238E27FC236}">
                <a16:creationId xmlns:a16="http://schemas.microsoft.com/office/drawing/2014/main" id="{780A6826-DD16-3CBB-4E41-FF7313441778}"/>
              </a:ext>
            </a:extLst>
          </p:cNvPr>
          <p:cNvSpPr txBox="1"/>
          <p:nvPr/>
        </p:nvSpPr>
        <p:spPr>
          <a:xfrm>
            <a:off x="4116807" y="5306639"/>
            <a:ext cx="7088636" cy="646331"/>
          </a:xfrm>
          <a:prstGeom prst="rect">
            <a:avLst/>
          </a:prstGeom>
          <a:noFill/>
        </p:spPr>
        <p:txBody>
          <a:bodyPr wrap="square">
            <a:spAutoFit/>
          </a:bodyPr>
          <a:lstStyle/>
          <a:p>
            <a:r>
              <a:rPr lang="en-US" b="1" dirty="0">
                <a:solidFill>
                  <a:schemeClr val="accent5">
                    <a:lumMod val="75000"/>
                  </a:schemeClr>
                </a:solidFill>
              </a:rPr>
              <a:t>Gemma LLM is a large language model that serves as the text-generation engine within an AI system,</a:t>
            </a:r>
            <a:endParaRPr lang="en-US" dirty="0"/>
          </a:p>
        </p:txBody>
      </p:sp>
      <p:pic>
        <p:nvPicPr>
          <p:cNvPr id="19" name="Picture 18">
            <a:extLst>
              <a:ext uri="{FF2B5EF4-FFF2-40B4-BE49-F238E27FC236}">
                <a16:creationId xmlns:a16="http://schemas.microsoft.com/office/drawing/2014/main" id="{20FBAE6A-333E-30C0-CCE5-A324388EF6B7}"/>
              </a:ext>
            </a:extLst>
          </p:cNvPr>
          <p:cNvPicPr>
            <a:picLocks noChangeAspect="1"/>
          </p:cNvPicPr>
          <p:nvPr/>
        </p:nvPicPr>
        <p:blipFill>
          <a:blip r:embed="rId3"/>
          <a:stretch>
            <a:fillRect/>
          </a:stretch>
        </p:blipFill>
        <p:spPr>
          <a:xfrm>
            <a:off x="420700" y="283309"/>
            <a:ext cx="3696107" cy="5884982"/>
          </a:xfrm>
          <a:prstGeom prst="rect">
            <a:avLst/>
          </a:prstGeom>
        </p:spPr>
      </p:pic>
      <p:sp>
        <p:nvSpPr>
          <p:cNvPr id="20" name="TextBox 19">
            <a:extLst>
              <a:ext uri="{FF2B5EF4-FFF2-40B4-BE49-F238E27FC236}">
                <a16:creationId xmlns:a16="http://schemas.microsoft.com/office/drawing/2014/main" id="{CC8B17A9-C13F-6061-5007-1E302BF1EA47}"/>
              </a:ext>
            </a:extLst>
          </p:cNvPr>
          <p:cNvSpPr txBox="1"/>
          <p:nvPr/>
        </p:nvSpPr>
        <p:spPr>
          <a:xfrm>
            <a:off x="4235531" y="453428"/>
            <a:ext cx="6096728" cy="646331"/>
          </a:xfrm>
          <a:prstGeom prst="rect">
            <a:avLst/>
          </a:prstGeom>
          <a:noFill/>
        </p:spPr>
        <p:txBody>
          <a:bodyPr wrap="square">
            <a:spAutoFit/>
          </a:bodyPr>
          <a:lstStyle/>
          <a:p>
            <a:r>
              <a:rPr kumimoji="0" lang="en-US" sz="1800" b="1" i="0" u="none" strike="noStrike" kern="1200" cap="none" spc="0" normalizeH="0" baseline="0" noProof="0" dirty="0">
                <a:ln>
                  <a:noFill/>
                </a:ln>
                <a:solidFill>
                  <a:srgbClr val="A02B93">
                    <a:lumMod val="75000"/>
                  </a:srgbClr>
                </a:solidFill>
                <a:effectLst/>
                <a:uLnTx/>
                <a:uFillTx/>
                <a:latin typeface="Aptos" panose="02110004020202020204"/>
                <a:ea typeface="+mn-ea"/>
                <a:cs typeface="+mn-cs"/>
              </a:rPr>
              <a:t>Uvicorn Web Server for taking requests and delivering information.</a:t>
            </a:r>
            <a:endParaRPr lang="en-US" dirty="0"/>
          </a:p>
        </p:txBody>
      </p:sp>
      <p:pic>
        <p:nvPicPr>
          <p:cNvPr id="21" name="Picture 20">
            <a:extLst>
              <a:ext uri="{FF2B5EF4-FFF2-40B4-BE49-F238E27FC236}">
                <a16:creationId xmlns:a16="http://schemas.microsoft.com/office/drawing/2014/main" id="{5A9D8E14-52D3-C8ED-3FD3-E7386FB46CC1}"/>
              </a:ext>
            </a:extLst>
          </p:cNvPr>
          <p:cNvPicPr>
            <a:picLocks noChangeAspect="1"/>
          </p:cNvPicPr>
          <p:nvPr/>
        </p:nvPicPr>
        <p:blipFill>
          <a:blip r:embed="rId4"/>
          <a:stretch>
            <a:fillRect/>
          </a:stretch>
        </p:blipFill>
        <p:spPr>
          <a:xfrm>
            <a:off x="2315052" y="6168291"/>
            <a:ext cx="6578154" cy="499915"/>
          </a:xfrm>
          <a:prstGeom prst="rect">
            <a:avLst/>
          </a:prstGeom>
        </p:spPr>
      </p:pic>
    </p:spTree>
    <p:extLst>
      <p:ext uri="{BB962C8B-B14F-4D97-AF65-F5344CB8AC3E}">
        <p14:creationId xmlns:p14="http://schemas.microsoft.com/office/powerpoint/2010/main" val="934176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0613EF0-C1B5-BA7B-69F3-D812659CA300}"/>
              </a:ext>
            </a:extLst>
          </p:cNvPr>
          <p:cNvPicPr>
            <a:picLocks noChangeAspect="1"/>
          </p:cNvPicPr>
          <p:nvPr/>
        </p:nvPicPr>
        <p:blipFill>
          <a:blip r:embed="rId3"/>
          <a:stretch>
            <a:fillRect/>
          </a:stretch>
        </p:blipFill>
        <p:spPr>
          <a:xfrm>
            <a:off x="2342560" y="643466"/>
            <a:ext cx="6801439" cy="5424147"/>
          </a:xfrm>
          <a:prstGeom prst="rect">
            <a:avLst/>
          </a:prstGeom>
        </p:spPr>
      </p:pic>
    </p:spTree>
    <p:extLst>
      <p:ext uri="{BB962C8B-B14F-4D97-AF65-F5344CB8AC3E}">
        <p14:creationId xmlns:p14="http://schemas.microsoft.com/office/powerpoint/2010/main" val="2553473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CC3B8B-F7EF-08FA-C57C-8498D6AEDD5E}"/>
              </a:ext>
            </a:extLst>
          </p:cNvPr>
          <p:cNvSpPr txBox="1"/>
          <p:nvPr/>
        </p:nvSpPr>
        <p:spPr>
          <a:xfrm>
            <a:off x="567160" y="578734"/>
            <a:ext cx="10394066" cy="1631216"/>
          </a:xfrm>
          <a:prstGeom prst="rect">
            <a:avLst/>
          </a:prstGeom>
          <a:noFill/>
        </p:spPr>
        <p:txBody>
          <a:bodyPr wrap="square" rtlCol="0">
            <a:spAutoFit/>
          </a:bodyPr>
          <a:lstStyle/>
          <a:p>
            <a:r>
              <a:rPr lang="en-US" sz="1400" b="1" dirty="0">
                <a:solidFill>
                  <a:schemeClr val="accent5"/>
                </a:solidFill>
              </a:rPr>
              <a:t>Question: </a:t>
            </a:r>
            <a:r>
              <a:rPr lang="en-US" sz="1400" dirty="0">
                <a:solidFill>
                  <a:schemeClr val="accent5"/>
                </a:solidFill>
              </a:rPr>
              <a:t>How does the browser know which server to use?</a:t>
            </a:r>
          </a:p>
          <a:p>
            <a:endParaRPr lang="en-US" sz="1400" dirty="0">
              <a:solidFill>
                <a:schemeClr val="accent5"/>
              </a:solidFill>
            </a:endParaRPr>
          </a:p>
          <a:p>
            <a:pPr lvl="1"/>
            <a:r>
              <a:rPr lang="en-US" sz="1400" b="1" dirty="0">
                <a:solidFill>
                  <a:schemeClr val="accent5"/>
                </a:solidFill>
              </a:rPr>
              <a:t>Answer: </a:t>
            </a:r>
            <a:r>
              <a:rPr lang="en-US" sz="1400" dirty="0">
                <a:solidFill>
                  <a:schemeClr val="accent5"/>
                </a:solidFill>
              </a:rPr>
              <a:t>The browser uses the URL to send a request to the server address and port where the application is listening.</a:t>
            </a:r>
          </a:p>
          <a:p>
            <a:pPr marL="742950" lvl="1" indent="-285750">
              <a:buFont typeface="Arial" panose="020B0604020202020204" pitchFamily="34" charset="0"/>
              <a:buChar char="•"/>
            </a:pPr>
            <a:r>
              <a:rPr lang="en-US" sz="1400" dirty="0">
                <a:solidFill>
                  <a:schemeClr val="accent5"/>
                </a:solidFill>
              </a:rPr>
              <a:t>http://  → protocol (how to communicate)</a:t>
            </a:r>
          </a:p>
          <a:p>
            <a:pPr marL="742950" lvl="1" indent="-285750">
              <a:buFont typeface="Arial" panose="020B0604020202020204" pitchFamily="34" charset="0"/>
              <a:buChar char="•"/>
            </a:pPr>
            <a:r>
              <a:rPr lang="en-US" sz="1400" dirty="0">
                <a:solidFill>
                  <a:schemeClr val="accent5"/>
                </a:solidFill>
              </a:rPr>
              <a:t>127.0.0.1 → server address (where to send the request)</a:t>
            </a:r>
          </a:p>
          <a:p>
            <a:pPr marL="742950" lvl="1" indent="-285750">
              <a:buFont typeface="Arial" panose="020B0604020202020204" pitchFamily="34" charset="0"/>
              <a:buChar char="•"/>
            </a:pPr>
            <a:r>
              <a:rPr lang="en-US" sz="1400" dirty="0">
                <a:solidFill>
                  <a:schemeClr val="accent5"/>
                </a:solidFill>
              </a:rPr>
              <a:t>:8000  → port (which application on that machine)</a:t>
            </a:r>
          </a:p>
          <a:p>
            <a:endParaRPr lang="en-US" sz="1600" dirty="0">
              <a:solidFill>
                <a:schemeClr val="accent5"/>
              </a:solidFill>
            </a:endParaRPr>
          </a:p>
        </p:txBody>
      </p:sp>
      <p:pic>
        <p:nvPicPr>
          <p:cNvPr id="6" name="Picture 5">
            <a:extLst>
              <a:ext uri="{FF2B5EF4-FFF2-40B4-BE49-F238E27FC236}">
                <a16:creationId xmlns:a16="http://schemas.microsoft.com/office/drawing/2014/main" id="{49268890-E9A2-67F3-BBC3-A20BA46F7BF8}"/>
              </a:ext>
            </a:extLst>
          </p:cNvPr>
          <p:cNvPicPr>
            <a:picLocks noChangeAspect="1"/>
          </p:cNvPicPr>
          <p:nvPr/>
        </p:nvPicPr>
        <p:blipFill>
          <a:blip r:embed="rId2"/>
          <a:stretch>
            <a:fillRect/>
          </a:stretch>
        </p:blipFill>
        <p:spPr>
          <a:xfrm>
            <a:off x="5968677" y="1317182"/>
            <a:ext cx="6111551" cy="1260113"/>
          </a:xfrm>
          <a:prstGeom prst="rect">
            <a:avLst/>
          </a:prstGeom>
        </p:spPr>
      </p:pic>
      <p:sp>
        <p:nvSpPr>
          <p:cNvPr id="7" name="TextBox 6">
            <a:extLst>
              <a:ext uri="{FF2B5EF4-FFF2-40B4-BE49-F238E27FC236}">
                <a16:creationId xmlns:a16="http://schemas.microsoft.com/office/drawing/2014/main" id="{DC3CDA8F-4D01-7E64-AAEE-0292BD301DC5}"/>
              </a:ext>
            </a:extLst>
          </p:cNvPr>
          <p:cNvSpPr txBox="1"/>
          <p:nvPr/>
        </p:nvSpPr>
        <p:spPr>
          <a:xfrm>
            <a:off x="567160" y="3759289"/>
            <a:ext cx="10394066" cy="984885"/>
          </a:xfrm>
          <a:prstGeom prst="rect">
            <a:avLst/>
          </a:prstGeom>
          <a:noFill/>
        </p:spPr>
        <p:txBody>
          <a:bodyPr wrap="square" rtlCol="0">
            <a:spAutoFit/>
          </a:bodyPr>
          <a:lstStyle/>
          <a:p>
            <a:r>
              <a:rPr lang="en-US" sz="1400" b="1" dirty="0">
                <a:solidFill>
                  <a:schemeClr val="accent5"/>
                </a:solidFill>
              </a:rPr>
              <a:t>Question: </a:t>
            </a:r>
            <a:r>
              <a:rPr lang="en-US" sz="1400" dirty="0">
                <a:solidFill>
                  <a:schemeClr val="accent5"/>
                </a:solidFill>
              </a:rPr>
              <a:t>How does the server know to communicate with FastAPI?</a:t>
            </a:r>
          </a:p>
          <a:p>
            <a:endParaRPr lang="en-US" sz="1400" dirty="0">
              <a:solidFill>
                <a:schemeClr val="accent5"/>
              </a:solidFill>
            </a:endParaRPr>
          </a:p>
          <a:p>
            <a:pPr lvl="1"/>
            <a:r>
              <a:rPr lang="en-US" sz="1400" b="1" dirty="0">
                <a:solidFill>
                  <a:schemeClr val="accent5"/>
                </a:solidFill>
              </a:rPr>
              <a:t>Answer: </a:t>
            </a:r>
            <a:r>
              <a:rPr lang="en-US" sz="1400" dirty="0">
                <a:solidFill>
                  <a:schemeClr val="accent5"/>
                </a:solidFill>
              </a:rPr>
              <a:t>The server knows to communicate with FastAPI because you explicitly tell it which app to run when you start Uvicorn.</a:t>
            </a:r>
          </a:p>
          <a:p>
            <a:pPr lvl="1"/>
            <a:endParaRPr lang="en-US" sz="1600" dirty="0">
              <a:solidFill>
                <a:schemeClr val="accent5"/>
              </a:solidFill>
            </a:endParaRPr>
          </a:p>
        </p:txBody>
      </p:sp>
      <p:pic>
        <p:nvPicPr>
          <p:cNvPr id="11" name="Picture 10">
            <a:extLst>
              <a:ext uri="{FF2B5EF4-FFF2-40B4-BE49-F238E27FC236}">
                <a16:creationId xmlns:a16="http://schemas.microsoft.com/office/drawing/2014/main" id="{6E65487D-831E-9CCD-63FB-A0F20C053D66}"/>
              </a:ext>
            </a:extLst>
          </p:cNvPr>
          <p:cNvPicPr>
            <a:picLocks noChangeAspect="1"/>
          </p:cNvPicPr>
          <p:nvPr/>
        </p:nvPicPr>
        <p:blipFill>
          <a:blip r:embed="rId3"/>
          <a:stretch>
            <a:fillRect/>
          </a:stretch>
        </p:blipFill>
        <p:spPr>
          <a:xfrm>
            <a:off x="3022865" y="4563782"/>
            <a:ext cx="6648057" cy="1333411"/>
          </a:xfrm>
          <a:prstGeom prst="rect">
            <a:avLst/>
          </a:prstGeom>
        </p:spPr>
      </p:pic>
      <p:pic>
        <p:nvPicPr>
          <p:cNvPr id="13" name="Picture 12">
            <a:extLst>
              <a:ext uri="{FF2B5EF4-FFF2-40B4-BE49-F238E27FC236}">
                <a16:creationId xmlns:a16="http://schemas.microsoft.com/office/drawing/2014/main" id="{962F6AE5-4205-69C1-CD90-B123329E4333}"/>
              </a:ext>
            </a:extLst>
          </p:cNvPr>
          <p:cNvPicPr>
            <a:picLocks noChangeAspect="1"/>
          </p:cNvPicPr>
          <p:nvPr/>
        </p:nvPicPr>
        <p:blipFill>
          <a:blip r:embed="rId4"/>
          <a:stretch>
            <a:fillRect/>
          </a:stretch>
        </p:blipFill>
        <p:spPr>
          <a:xfrm>
            <a:off x="1732150" y="2606269"/>
            <a:ext cx="3903564" cy="749383"/>
          </a:xfrm>
          <a:prstGeom prst="rect">
            <a:avLst/>
          </a:prstGeom>
        </p:spPr>
      </p:pic>
      <p:sp>
        <p:nvSpPr>
          <p:cNvPr id="17" name="TextBox 16">
            <a:extLst>
              <a:ext uri="{FF2B5EF4-FFF2-40B4-BE49-F238E27FC236}">
                <a16:creationId xmlns:a16="http://schemas.microsoft.com/office/drawing/2014/main" id="{223DBA59-92D2-348D-8CAF-8CC87EE96194}"/>
              </a:ext>
            </a:extLst>
          </p:cNvPr>
          <p:cNvSpPr txBox="1"/>
          <p:nvPr/>
        </p:nvSpPr>
        <p:spPr>
          <a:xfrm>
            <a:off x="1037863" y="2267715"/>
            <a:ext cx="6096000" cy="338554"/>
          </a:xfrm>
          <a:prstGeom prst="rect">
            <a:avLst/>
          </a:prstGeom>
          <a:noFill/>
        </p:spPr>
        <p:txBody>
          <a:bodyPr wrap="square">
            <a:spAutoFit/>
          </a:bodyPr>
          <a:lstStyle/>
          <a:p>
            <a:pPr lvl="1"/>
            <a:r>
              <a:rPr lang="en-US" sz="1600" dirty="0">
                <a:solidFill>
                  <a:schemeClr val="accent5"/>
                </a:solidFill>
              </a:rPr>
              <a:t>When we enter url: http://127.0.0.1:8000/ui</a:t>
            </a:r>
          </a:p>
        </p:txBody>
      </p:sp>
    </p:spTree>
    <p:extLst>
      <p:ext uri="{BB962C8B-B14F-4D97-AF65-F5344CB8AC3E}">
        <p14:creationId xmlns:p14="http://schemas.microsoft.com/office/powerpoint/2010/main" val="2713161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4DD6E4-C7A6-D909-FEBF-052AC216DABB}"/>
              </a:ext>
            </a:extLst>
          </p:cNvPr>
          <p:cNvSpPr txBox="1"/>
          <p:nvPr/>
        </p:nvSpPr>
        <p:spPr>
          <a:xfrm>
            <a:off x="1755494" y="908535"/>
            <a:ext cx="8943372" cy="369332"/>
          </a:xfrm>
          <a:prstGeom prst="rect">
            <a:avLst/>
          </a:prstGeom>
          <a:noFill/>
        </p:spPr>
        <p:txBody>
          <a:bodyPr wrap="square">
            <a:spAutoFit/>
          </a:bodyPr>
          <a:lstStyle/>
          <a:p>
            <a:r>
              <a:rPr lang="en-US" dirty="0"/>
              <a:t>https://github.com/lousapia/ai-literacy-chatbot/tree/main?tab=readme-ov-file#readme</a:t>
            </a:r>
          </a:p>
        </p:txBody>
      </p:sp>
      <p:sp>
        <p:nvSpPr>
          <p:cNvPr id="4" name="TextBox 3">
            <a:extLst>
              <a:ext uri="{FF2B5EF4-FFF2-40B4-BE49-F238E27FC236}">
                <a16:creationId xmlns:a16="http://schemas.microsoft.com/office/drawing/2014/main" id="{8200291F-C64C-EAB9-CAF3-123EB8C0AC29}"/>
              </a:ext>
            </a:extLst>
          </p:cNvPr>
          <p:cNvSpPr txBox="1"/>
          <p:nvPr/>
        </p:nvSpPr>
        <p:spPr>
          <a:xfrm>
            <a:off x="5046561" y="111888"/>
            <a:ext cx="1632031" cy="646331"/>
          </a:xfrm>
          <a:prstGeom prst="rect">
            <a:avLst/>
          </a:prstGeom>
          <a:noFill/>
        </p:spPr>
        <p:txBody>
          <a:bodyPr wrap="square" rtlCol="0">
            <a:spAutoFit/>
          </a:bodyPr>
          <a:lstStyle/>
          <a:p>
            <a:r>
              <a:rPr lang="en-US" sz="3600" b="1" dirty="0">
                <a:solidFill>
                  <a:schemeClr val="accent5"/>
                </a:solidFill>
              </a:rPr>
              <a:t>Gitlab</a:t>
            </a:r>
          </a:p>
        </p:txBody>
      </p:sp>
      <p:pic>
        <p:nvPicPr>
          <p:cNvPr id="6" name="Picture 5">
            <a:extLst>
              <a:ext uri="{FF2B5EF4-FFF2-40B4-BE49-F238E27FC236}">
                <a16:creationId xmlns:a16="http://schemas.microsoft.com/office/drawing/2014/main" id="{561033B5-1CE5-EAF7-58D1-19CD6771B484}"/>
              </a:ext>
            </a:extLst>
          </p:cNvPr>
          <p:cNvPicPr>
            <a:picLocks noChangeAspect="1"/>
          </p:cNvPicPr>
          <p:nvPr/>
        </p:nvPicPr>
        <p:blipFill>
          <a:blip r:embed="rId2"/>
          <a:stretch>
            <a:fillRect/>
          </a:stretch>
        </p:blipFill>
        <p:spPr>
          <a:xfrm>
            <a:off x="2738781" y="1485418"/>
            <a:ext cx="6432226" cy="4303144"/>
          </a:xfrm>
          <a:prstGeom prst="rect">
            <a:avLst/>
          </a:prstGeom>
        </p:spPr>
      </p:pic>
    </p:spTree>
    <p:extLst>
      <p:ext uri="{BB962C8B-B14F-4D97-AF65-F5344CB8AC3E}">
        <p14:creationId xmlns:p14="http://schemas.microsoft.com/office/powerpoint/2010/main" val="4112744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C79A09A-3F5A-3DCC-04AF-3A823857688E}"/>
              </a:ext>
            </a:extLst>
          </p:cNvPr>
          <p:cNvGraphicFramePr>
            <a:graphicFrameLocks noGrp="1"/>
          </p:cNvGraphicFramePr>
          <p:nvPr>
            <p:extLst>
              <p:ext uri="{D42A27DB-BD31-4B8C-83A1-F6EECF244321}">
                <p14:modId xmlns:p14="http://schemas.microsoft.com/office/powerpoint/2010/main" val="3525572150"/>
              </p:ext>
            </p:extLst>
          </p:nvPr>
        </p:nvGraphicFramePr>
        <p:xfrm>
          <a:off x="505428" y="270075"/>
          <a:ext cx="10801320" cy="7345680"/>
        </p:xfrm>
        <a:graphic>
          <a:graphicData uri="http://schemas.openxmlformats.org/drawingml/2006/table">
            <a:tbl>
              <a:tblPr firstRow="1" bandRow="1"/>
              <a:tblGrid>
                <a:gridCol w="1095104">
                  <a:extLst>
                    <a:ext uri="{9D8B030D-6E8A-4147-A177-3AD203B41FA5}">
                      <a16:colId xmlns:a16="http://schemas.microsoft.com/office/drawing/2014/main" val="20000"/>
                    </a:ext>
                  </a:extLst>
                </a:gridCol>
                <a:gridCol w="2625352">
                  <a:extLst>
                    <a:ext uri="{9D8B030D-6E8A-4147-A177-3AD203B41FA5}">
                      <a16:colId xmlns:a16="http://schemas.microsoft.com/office/drawing/2014/main" val="20001"/>
                    </a:ext>
                  </a:extLst>
                </a:gridCol>
                <a:gridCol w="3340408">
                  <a:extLst>
                    <a:ext uri="{9D8B030D-6E8A-4147-A177-3AD203B41FA5}">
                      <a16:colId xmlns:a16="http://schemas.microsoft.com/office/drawing/2014/main" val="20002"/>
                    </a:ext>
                  </a:extLst>
                </a:gridCol>
                <a:gridCol w="3740456">
                  <a:extLst>
                    <a:ext uri="{9D8B030D-6E8A-4147-A177-3AD203B41FA5}">
                      <a16:colId xmlns:a16="http://schemas.microsoft.com/office/drawing/2014/main" val="3036608342"/>
                    </a:ext>
                  </a:extLst>
                </a:gridCol>
              </a:tblGrid>
              <a:tr h="304346">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sz="1600" dirty="0"/>
                        <a:t>Acronym</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sz="1600" dirty="0"/>
                        <a:t>Full 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defRPr b="1"/>
                      </a:pPr>
                      <a:r>
                        <a:rPr lang="en-US" sz="1600" dirty="0"/>
                        <a:t>Description</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p>
                      <a:pPr>
                        <a:defRPr b="1"/>
                      </a:pPr>
                      <a:r>
                        <a:rPr lang="en-US" sz="1600" dirty="0">
                          <a:solidFill>
                            <a:schemeClr val="bg1"/>
                          </a:solidFill>
                        </a:rPr>
                        <a:t>Analogy</a:t>
                      </a:r>
                      <a:endParaRPr sz="1600" dirty="0">
                        <a:solidFill>
                          <a:schemeClr val="bg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52568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sz="16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Uvicorn</a:t>
                      </a:r>
                      <a:endParaRPr sz="16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Web server that runs python web applications.</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Store building that opens doors, stays open all day and lets customers in.</a:t>
                      </a:r>
                      <a:endParaRPr sz="1600" dirty="0"/>
                    </a:p>
                  </a:txBody>
                  <a:tcP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extLst>
                  <a:ext uri="{0D108BD9-81ED-4DB2-BD59-A6C34878D82A}">
                    <a16:rowId xmlns:a16="http://schemas.microsoft.com/office/drawing/2014/main" val="10001"/>
                  </a:ext>
                </a:extLst>
              </a:tr>
              <a:tr h="52568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a:t>LLM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a:t>Large Language Model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AI model trained to understand and generate text</a:t>
                      </a:r>
                      <a:r>
                        <a:rPr lang="en-US" sz="1600" dirty="0"/>
                        <a:t>.</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r>
                        <a:rPr lang="en-US" sz="1600" dirty="0"/>
                        <a:t>Autocomplete on your phone — but trained on massive amounts of text.</a:t>
                      </a:r>
                      <a:endParaRPr sz="1600"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525688">
                <a:tc>
                  <a:txBody>
                    <a:bodyPr/>
                    <a:lstStyle/>
                    <a:p>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Gemma (LLM Model)</a:t>
                      </a:r>
                      <a:endParaRPr sz="16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Open-source SMALLER language model created by Google.</a:t>
                      </a:r>
                      <a:endParaRPr sz="16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Smaller LLM like a compact car or pocket calculator.</a:t>
                      </a:r>
                      <a:endParaRPr sz="1600"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extLst>
                  <a:ext uri="{0D108BD9-81ED-4DB2-BD59-A6C34878D82A}">
                    <a16:rowId xmlns:a16="http://schemas.microsoft.com/office/drawing/2014/main" val="1998621556"/>
                  </a:ext>
                </a:extLst>
              </a:tr>
              <a:tr h="525688">
                <a:tc>
                  <a:txBody>
                    <a:bodyPr/>
                    <a:lstStyle/>
                    <a:p>
                      <a:r>
                        <a:rPr lang="en-US" sz="1600" dirty="0" err="1"/>
                        <a:t>LLaMA</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it-IT" sz="1600" b="0" dirty="0"/>
                        <a:t>Large Language Model Meta AI</a:t>
                      </a:r>
                      <a:endParaRPr sz="1600" b="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t>Open-source LARGE language model created by Meta.</a:t>
                      </a:r>
                      <a:endParaRPr sz="16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600" dirty="0"/>
                        <a:t>Larger LLM like a truck or scientific calculator.</a:t>
                      </a:r>
                      <a:endParaRPr sz="1600"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64970772"/>
                  </a:ext>
                </a:extLst>
              </a:tr>
              <a:tr h="52568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API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a:t>Application Programming Interface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A controlled way for programs to communicate</a:t>
                      </a:r>
                      <a:r>
                        <a:rPr lang="en-US" sz="1600" dirty="0"/>
                        <a:t>.</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A waiter that takes requests from an app and brings back responses from another system.</a:t>
                      </a:r>
                      <a:endParaRPr sz="1600"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extLst>
                  <a:ext uri="{0D108BD9-81ED-4DB2-BD59-A6C34878D82A}">
                    <a16:rowId xmlns:a16="http://schemas.microsoft.com/office/drawing/2014/main" val="10003"/>
                  </a:ext>
                </a:extLst>
              </a:tr>
              <a:tr h="747030">
                <a:tc>
                  <a:txBody>
                    <a:bodyPr/>
                    <a:lstStyle/>
                    <a:p>
                      <a:r>
                        <a:rPr lang="en-US" sz="1600" dirty="0"/>
                        <a:t>REST  API</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Representational State Transfer Application Programming Interface</a:t>
                      </a:r>
                      <a:endParaRPr sz="16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Communicate using standard HTTP request and responses.</a:t>
                      </a:r>
                      <a:endParaRPr sz="16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Ordering clothing online.</a:t>
                      </a:r>
                      <a:endParaRPr sz="1600"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extLst>
                  <a:ext uri="{0D108BD9-81ED-4DB2-BD59-A6C34878D82A}">
                    <a16:rowId xmlns:a16="http://schemas.microsoft.com/office/drawing/2014/main" val="2460695909"/>
                  </a:ext>
                </a:extLst>
              </a:tr>
              <a:tr h="52568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UI</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a:t>User Interface</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The part of the app people interact with</a:t>
                      </a:r>
                      <a:r>
                        <a:rPr lang="en-US" sz="1600" dirty="0"/>
                        <a:t>.</a:t>
                      </a:r>
                      <a:endParaRPr sz="1600"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r>
                        <a:rPr lang="en-US" sz="1600" dirty="0"/>
                        <a:t>Bank application on the Internet. Uber, Grubhub….</a:t>
                      </a:r>
                      <a:endParaRPr sz="1600"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52568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Backend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a:t>Backend Application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Runs on a server - handles logic, data, and security, Does the work users don’t see.</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Customer orders a meal and the meal is made in the kitchen.</a:t>
                      </a:r>
                      <a:endParaRPr sz="1600"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extLst>
                  <a:ext uri="{0D108BD9-81ED-4DB2-BD59-A6C34878D82A}">
                    <a16:rowId xmlns:a16="http://schemas.microsoft.com/office/drawing/2014/main" val="10005"/>
                  </a:ext>
                </a:extLst>
              </a:tr>
              <a:tr h="74703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a:t>HTTP</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Hypertext Transfer Protocol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Rules for sending requests and responses over the web</a:t>
                      </a:r>
                      <a:r>
                        <a:rPr lang="en-US" sz="1600" dirty="0"/>
                        <a:t>.</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r>
                        <a:rPr lang="en-US" sz="1600" dirty="0"/>
                        <a:t>Like knocking on a door. You knock (request), wait, and get an answer (response).</a:t>
                      </a:r>
                      <a:endParaRPr sz="1600"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74703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a:t>JSON</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JavaScript Object Notation</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sz="1600" dirty="0"/>
                        <a:t>A common data format systems use to exchange information</a:t>
                      </a:r>
                      <a:r>
                        <a:rPr lang="en-US" sz="1600" dirty="0"/>
                        <a:t>.</a:t>
                      </a:r>
                      <a:endParaRPr sz="1600" dirty="0"/>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tc>
                  <a:txBody>
                    <a:bodyPr/>
                    <a:lstStyle/>
                    <a:p>
                      <a:r>
                        <a:rPr lang="en-US" sz="1600" dirty="0"/>
                        <a:t>Name: Lou</a:t>
                      </a:r>
                    </a:p>
                    <a:p>
                      <a:r>
                        <a:rPr lang="en-US" sz="1600" dirty="0"/>
                        <a:t>City: Cheshire</a:t>
                      </a:r>
                    </a:p>
                    <a:p>
                      <a:r>
                        <a:rPr lang="en-US" sz="1600" dirty="0"/>
                        <a:t>State: CT</a:t>
                      </a:r>
                      <a:endParaRPr sz="1600"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lumMod val="25000"/>
                        <a:lumOff val="75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222822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B29DD2-A6B5-6093-B6C8-BB07F02C6F6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Isosceles Triangle 3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638D97D-A80A-86A3-7B18-00E1AE790E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670" y="230188"/>
            <a:ext cx="7265376" cy="6222955"/>
          </a:xfrm>
          <a:prstGeom prst="rect">
            <a:avLst/>
          </a:prstGeom>
          <a:ln>
            <a:noFill/>
          </a:ln>
        </p:spPr>
      </p:pic>
      <p:sp>
        <p:nvSpPr>
          <p:cNvPr id="34" name="Isosceles Triangle 3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8032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85020-8F55-4B37-5A3A-8D0E4806D8F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9764CDC-8BAE-B54F-B8A2-08D3507C1D3E}"/>
              </a:ext>
            </a:extLst>
          </p:cNvPr>
          <p:cNvSpPr txBox="1"/>
          <p:nvPr/>
        </p:nvSpPr>
        <p:spPr>
          <a:xfrm>
            <a:off x="4614995" y="1736351"/>
            <a:ext cx="2898209" cy="369332"/>
          </a:xfrm>
          <a:prstGeom prst="rect">
            <a:avLst/>
          </a:prstGeom>
          <a:noFill/>
        </p:spPr>
        <p:txBody>
          <a:bodyPr wrap="square">
            <a:spAutoFit/>
          </a:bodyPr>
          <a:lstStyle/>
          <a:p>
            <a:r>
              <a:rPr lang="en-US" b="1" dirty="0" err="1">
                <a:solidFill>
                  <a:srgbClr val="7030A0"/>
                </a:solidFill>
              </a:rPr>
              <a:t>uvicorn</a:t>
            </a:r>
            <a:r>
              <a:rPr lang="en-US" b="1" dirty="0">
                <a:solidFill>
                  <a:srgbClr val="7030A0"/>
                </a:solidFill>
              </a:rPr>
              <a:t> </a:t>
            </a:r>
            <a:r>
              <a:rPr lang="en-US" b="1" dirty="0" err="1">
                <a:solidFill>
                  <a:srgbClr val="7030A0"/>
                </a:solidFill>
              </a:rPr>
              <a:t>main:app</a:t>
            </a:r>
            <a:r>
              <a:rPr lang="en-US" b="1" dirty="0">
                <a:solidFill>
                  <a:srgbClr val="7030A0"/>
                </a:solidFill>
              </a:rPr>
              <a:t> --reload</a:t>
            </a:r>
          </a:p>
        </p:txBody>
      </p:sp>
      <p:pic>
        <p:nvPicPr>
          <p:cNvPr id="10" name="Picture 9">
            <a:extLst>
              <a:ext uri="{FF2B5EF4-FFF2-40B4-BE49-F238E27FC236}">
                <a16:creationId xmlns:a16="http://schemas.microsoft.com/office/drawing/2014/main" id="{50AD7C6C-7413-CFF4-3BF7-7E0235D03356}"/>
              </a:ext>
            </a:extLst>
          </p:cNvPr>
          <p:cNvPicPr>
            <a:picLocks noChangeAspect="1"/>
          </p:cNvPicPr>
          <p:nvPr/>
        </p:nvPicPr>
        <p:blipFill>
          <a:blip r:embed="rId2"/>
          <a:stretch>
            <a:fillRect/>
          </a:stretch>
        </p:blipFill>
        <p:spPr>
          <a:xfrm>
            <a:off x="766767" y="1606371"/>
            <a:ext cx="3912031" cy="4695284"/>
          </a:xfrm>
          <a:prstGeom prst="rect">
            <a:avLst/>
          </a:prstGeom>
        </p:spPr>
      </p:pic>
      <p:sp>
        <p:nvSpPr>
          <p:cNvPr id="14" name="TextBox 13">
            <a:extLst>
              <a:ext uri="{FF2B5EF4-FFF2-40B4-BE49-F238E27FC236}">
                <a16:creationId xmlns:a16="http://schemas.microsoft.com/office/drawing/2014/main" id="{8D0DF7EB-5629-82F8-2C5B-9E756E5F09D7}"/>
              </a:ext>
            </a:extLst>
          </p:cNvPr>
          <p:cNvSpPr txBox="1"/>
          <p:nvPr/>
        </p:nvSpPr>
        <p:spPr>
          <a:xfrm>
            <a:off x="4614995" y="2653845"/>
            <a:ext cx="6810238" cy="369332"/>
          </a:xfrm>
          <a:prstGeom prst="rect">
            <a:avLst/>
          </a:prstGeom>
          <a:noFill/>
        </p:spPr>
        <p:txBody>
          <a:bodyPr wrap="square">
            <a:spAutoFit/>
          </a:bodyPr>
          <a:lstStyle/>
          <a:p>
            <a:r>
              <a:rPr lang="en-US" b="1" dirty="0">
                <a:solidFill>
                  <a:srgbClr val="7030A0"/>
                </a:solidFill>
              </a:rPr>
              <a:t>Main.py -&gt; Imports FastAPI framework</a:t>
            </a:r>
          </a:p>
        </p:txBody>
      </p:sp>
      <p:sp>
        <p:nvSpPr>
          <p:cNvPr id="16" name="TextBox 15">
            <a:extLst>
              <a:ext uri="{FF2B5EF4-FFF2-40B4-BE49-F238E27FC236}">
                <a16:creationId xmlns:a16="http://schemas.microsoft.com/office/drawing/2014/main" id="{04A59CFE-39F6-EC2D-2E0E-409558711FF8}"/>
              </a:ext>
            </a:extLst>
          </p:cNvPr>
          <p:cNvSpPr txBox="1"/>
          <p:nvPr/>
        </p:nvSpPr>
        <p:spPr>
          <a:xfrm>
            <a:off x="4667131" y="4709787"/>
            <a:ext cx="6810238" cy="646331"/>
          </a:xfrm>
          <a:prstGeom prst="rect">
            <a:avLst/>
          </a:prstGeom>
          <a:noFill/>
        </p:spPr>
        <p:txBody>
          <a:bodyPr wrap="square">
            <a:spAutoFit/>
          </a:bodyPr>
          <a:lstStyle/>
          <a:p>
            <a:r>
              <a:rPr lang="en-US" b="1" dirty="0">
                <a:solidFill>
                  <a:srgbClr val="7030A0"/>
                </a:solidFill>
              </a:rPr>
              <a:t>Server has opened a port (actively listening) and ready to receive connections</a:t>
            </a:r>
          </a:p>
        </p:txBody>
      </p:sp>
      <p:sp>
        <p:nvSpPr>
          <p:cNvPr id="21" name="TextBox 20">
            <a:extLst>
              <a:ext uri="{FF2B5EF4-FFF2-40B4-BE49-F238E27FC236}">
                <a16:creationId xmlns:a16="http://schemas.microsoft.com/office/drawing/2014/main" id="{789A8B53-58ED-EDE7-A16B-FEB2885CAB03}"/>
              </a:ext>
            </a:extLst>
          </p:cNvPr>
          <p:cNvSpPr txBox="1"/>
          <p:nvPr/>
        </p:nvSpPr>
        <p:spPr>
          <a:xfrm>
            <a:off x="4614994" y="3629503"/>
            <a:ext cx="7197829" cy="646331"/>
          </a:xfrm>
          <a:prstGeom prst="rect">
            <a:avLst/>
          </a:prstGeom>
          <a:noFill/>
        </p:spPr>
        <p:txBody>
          <a:bodyPr wrap="square">
            <a:spAutoFit/>
          </a:bodyPr>
          <a:lstStyle/>
          <a:p>
            <a:r>
              <a:rPr lang="en-US" b="1" dirty="0">
                <a:solidFill>
                  <a:srgbClr val="7030A0"/>
                </a:solidFill>
              </a:rPr>
              <a:t>Defines routes (URLs) and behaviors (execution, validation, error handling, security, etc.)</a:t>
            </a:r>
          </a:p>
        </p:txBody>
      </p:sp>
      <p:sp>
        <p:nvSpPr>
          <p:cNvPr id="22" name="TextBox 21">
            <a:extLst>
              <a:ext uri="{FF2B5EF4-FFF2-40B4-BE49-F238E27FC236}">
                <a16:creationId xmlns:a16="http://schemas.microsoft.com/office/drawing/2014/main" id="{6D9ECD67-3157-FEA5-4D3B-25E42844089F}"/>
              </a:ext>
            </a:extLst>
          </p:cNvPr>
          <p:cNvSpPr txBox="1"/>
          <p:nvPr/>
        </p:nvSpPr>
        <p:spPr>
          <a:xfrm>
            <a:off x="4646897" y="5647157"/>
            <a:ext cx="6810238" cy="369332"/>
          </a:xfrm>
          <a:prstGeom prst="rect">
            <a:avLst/>
          </a:prstGeom>
          <a:noFill/>
        </p:spPr>
        <p:txBody>
          <a:bodyPr wrap="square">
            <a:spAutoFit/>
          </a:bodyPr>
          <a:lstStyle/>
          <a:p>
            <a:r>
              <a:rPr lang="en-US" b="1" dirty="0">
                <a:solidFill>
                  <a:srgbClr val="7030A0"/>
                </a:solidFill>
              </a:rPr>
              <a:t>Server is idle until request arrives</a:t>
            </a:r>
          </a:p>
        </p:txBody>
      </p:sp>
      <p:pic>
        <p:nvPicPr>
          <p:cNvPr id="3" name="Picture 2">
            <a:extLst>
              <a:ext uri="{FF2B5EF4-FFF2-40B4-BE49-F238E27FC236}">
                <a16:creationId xmlns:a16="http://schemas.microsoft.com/office/drawing/2014/main" id="{C003973E-1941-69EA-F074-C26601C16F42}"/>
              </a:ext>
            </a:extLst>
          </p:cNvPr>
          <p:cNvPicPr>
            <a:picLocks noChangeAspect="1"/>
          </p:cNvPicPr>
          <p:nvPr/>
        </p:nvPicPr>
        <p:blipFill>
          <a:blip r:embed="rId3"/>
          <a:stretch>
            <a:fillRect/>
          </a:stretch>
        </p:blipFill>
        <p:spPr>
          <a:xfrm>
            <a:off x="3081736" y="250575"/>
            <a:ext cx="7167489" cy="834059"/>
          </a:xfrm>
          <a:prstGeom prst="rect">
            <a:avLst/>
          </a:prstGeom>
        </p:spPr>
      </p:pic>
      <p:pic>
        <p:nvPicPr>
          <p:cNvPr id="5" name="Picture 4">
            <a:extLst>
              <a:ext uri="{FF2B5EF4-FFF2-40B4-BE49-F238E27FC236}">
                <a16:creationId xmlns:a16="http://schemas.microsoft.com/office/drawing/2014/main" id="{31AF4BFB-4C7D-C80B-C18A-0D859AD5D99A}"/>
              </a:ext>
            </a:extLst>
          </p:cNvPr>
          <p:cNvPicPr>
            <a:picLocks noChangeAspect="1"/>
          </p:cNvPicPr>
          <p:nvPr/>
        </p:nvPicPr>
        <p:blipFill>
          <a:blip r:embed="rId4"/>
          <a:stretch>
            <a:fillRect/>
          </a:stretch>
        </p:blipFill>
        <p:spPr>
          <a:xfrm>
            <a:off x="1461291" y="67620"/>
            <a:ext cx="1295206" cy="1199970"/>
          </a:xfrm>
          <a:prstGeom prst="rect">
            <a:avLst/>
          </a:prstGeom>
        </p:spPr>
      </p:pic>
    </p:spTree>
    <p:extLst>
      <p:ext uri="{BB962C8B-B14F-4D97-AF65-F5344CB8AC3E}">
        <p14:creationId xmlns:p14="http://schemas.microsoft.com/office/powerpoint/2010/main" val="1361713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2251</TotalTime>
  <Words>1507</Words>
  <Application>Microsoft Office PowerPoint</Application>
  <PresentationFormat>Widescreen</PresentationFormat>
  <Paragraphs>236</Paragraphs>
  <Slides>16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Louis Sapia</dc:creator>
  <cp:lastModifiedBy>Louis Sapia</cp:lastModifiedBy>
  <cp:revision>87</cp:revision>
  <dcterms:created xsi:type="dcterms:W3CDTF">2025-12-16T19:46:25Z</dcterms:created>
  <dcterms:modified xsi:type="dcterms:W3CDTF">2025-12-18T19:57:14Z</dcterms:modified>
</cp:coreProperties>
</file>